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0dba376-6d7b-896e-6659-1675aeaf9390}">
          <p14:sldIdLst>
            <p14:sldId id="256"/>
            <p14:sldId id="257"/>
          </p14:sldIdLst>
        </p14:section>
        <p14:section name="Problem and solution" id="{1ec66495-da8d-581c-b8e3-71dc040c743b}">
          <p14:sldIdLst>
            <p14:sldId id="258"/>
            <p14:sldId id="259"/>
            <p14:sldId id="260"/>
          </p14:sldIdLst>
        </p14:section>
        <p14:section name="Agents and orchestration" id="{f7fb018e-3999-6867-31d3-844016c7c1ac}">
          <p14:sldIdLst>
            <p14:sldId id="261"/>
            <p14:sldId id="262"/>
          </p14:sldIdLst>
        </p14:section>
        <p14:section name="Architecture" id="{e5c643d8-e699-e9fc-c158-0ba8f4913d46}">
          <p14:sldIdLst>
            <p14:sldId id="263"/>
            <p14:sldId id="264"/>
            <p14:sldId id="265"/>
            <p14:sldId id="266"/>
            <p14:sldId id="267"/>
            <p14:sldId id="268"/>
          </p14:sldIdLst>
        </p14:section>
        <p14:section name="Proof of concept demonstration" id="{4551cbf4-7416-b320-6059-18674f0fa657}">
          <p14:sldIdLst>
            <p14:sldId id="269"/>
            <p14:sldId id="270"/>
            <p14:sldId id="271"/>
            <p14:sldId id="272"/>
          </p14:sldIdLst>
        </p14:section>
        <p14:section name="Validation, results and future scope" id="{da8133d8-9fe6-a612-c6a9-5e0212d17203}">
          <p14:sldIdLst>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Backend tests by area (206 total)</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0E7C86"/>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Sheet1!$A$2:$A$10</c:f>
              <c:multiLvlStrCache>
                <c:ptCount val="9"/>
                <c:lvl>
                  <c:pt idx="0">
                    <c:v>Agents</c:v>
                  </c:pt>
                  <c:pt idx="1">
                    <c:v>API</c:v>
                  </c:pt>
                  <c:pt idx="2">
                    <c:v>Workflow</c:v>
                  </c:pt>
                  <c:pt idx="3">
                    <c:v>Demo scenarios</c:v>
                  </c:pt>
                  <c:pt idx="4">
                    <c:v>Database</c:v>
                  </c:pt>
                  <c:pt idx="5">
                    <c:v>Policy</c:v>
                  </c:pt>
                  <c:pt idx="6">
                    <c:v>UI</c:v>
                  </c:pt>
                  <c:pt idx="7">
                    <c:v>Validation</c:v>
                  </c:pt>
                  <c:pt idx="8">
                    <c:v>Collaboration</c:v>
                  </c:pt>
                </c:lvl>
              </c:multiLvlStrCache>
            </c:multiLvlStrRef>
          </c:cat>
          <c:val>
            <c:numRef>
              <c:f>Sheet1!$B$2:$B$10</c:f>
              <c:numCache>
                <c:formatCode>General</c:formatCode>
                <c:ptCount val="9"/>
                <c:pt idx="0">
                  <c:v>38</c:v>
                </c:pt>
                <c:pt idx="1">
                  <c:v>36</c:v>
                </c:pt>
                <c:pt idx="2">
                  <c:v>38</c:v>
                </c:pt>
                <c:pt idx="3">
                  <c:v>14</c:v>
                </c:pt>
                <c:pt idx="4">
                  <c:v>26</c:v>
                </c:pt>
                <c:pt idx="5">
                  <c:v>17</c:v>
                </c:pt>
                <c:pt idx="6">
                  <c:v>18</c:v>
                </c:pt>
                <c:pt idx="7">
                  <c:v>14</c:v>
                </c:pt>
                <c:pt idx="8">
                  <c:v>5</c:v>
                </c:pt>
              </c:numCache>
            </c:numRef>
          </c:val>
        </c:ser>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the team and the faculty guide. ReturnWise is a five-agent system that recommends refund, replacement, rejection or manual review for e-commerce return requests, using synthetic data only. The logo on this slide is a placeholder; replace it with the official SIT Pune logo (right-click, Change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each of the seven required items to the slides where it is addressed, so the evaluator can navigate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in one sentence, then justify why e-commerce returns are a good domain for a multi-agent design: the rules are explicit, the cost of a wrong decision is financial, and an audit trail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how returns are typically handled today and where it hurts. Right side: what ReturnWise changes. Note that the system only RECOMMENDS; no payment is made, a human stays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design decisions. Agents are deterministic Python so results are reproducible and testable, with no API key. The system recommends; it never says Refunded.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agents left to right. Point out the Reads and Produces columns: they show that each agent consumes the previous agent's output. The Critic does not trust Eligibility or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numbered flow. The orchestrator is a hub-and-spoke controller. Steps 6 and 7 only happen when the Critic fails the first validation, and the loop is bounded to one correction. If the correction does not fix it, the case goes to manual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Streamlit UI, service layer, orchestrator, the five agents, tools (policy engine, repository, config) and SQLite. This diagram is also provided as an editable draw.io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box lists the fields an agent hands on. This is verified by tests: 100 runs (20 orders x 5 reasons) check that the order ID, refund amount and eligibility are carried unchanged from agent to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Eligibility agent collects four rule results, then applies an ordered decision. Data problems and reason 'other' go to manual review before rules are considered; failed rules mean ineligible; replacement-only categories give replacement; otherwise refund after a cap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 runs 8 checks. If any fails, the Resolution agent applies only the values the Critic proposes, then the Critic revalidates once. A second failure ends in manual review, so the loop cannot run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tables. return_requests.order_id is a deliberate soft link so a request for an unknown order can still be stored as a failed request. agent_logs holds every step's input and output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tools are open source and run locally. Python agents are plain functions, which makes them easy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app here. The dashboard numbers come from the database. On the New Return Request page you enter an order ID and reason, or pick one of the sample orders. Everything is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of scenario SC-09, where an error is injected into the Resolution output. Read the screenshot top to bottom: every arrow line says which agent passes what to the next one. The Critic fails the first validation, Resolution is corrected, and the Critic revalidates and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Resolution page shows the recommendation with its label, the order and eligibility details, the supporting evidence, and the Critic's validation table. No payment is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and Testing page runs 12 scripted scenarios against the real agents and marks each as pass or fail only from its own checks. Twelve of twelve pass. SC-06 writes nothing, so 11 requests are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the Critic agent at run time, automated tests, and a manual visual check. Be clear about the split: the tests check logic and text; the appearance was checked by viewing screenshots in Chromium.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scenario matched its expected outcome. The four rows with a correction show the Critic loop working: SC-09 and SC-10 are fixed after one correction; SC-11 cannot be fixed and is escalated to manual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these. The Critic trust boundary is a real design limit: it re-checks Eligibility and Resolution, but takes the Research agent's order record as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next steps, not things that exist today. The key principle for any LLM addition: its output is untrusted and may never override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back to the seven requirements. Invite questions and offer a live demo of the Streamlit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B1F3A"/>
          </a:solidFill>
          <a:ln/>
        </p:spPr>
      </p:sp>
      <p:sp>
        <p:nvSpPr>
          <p:cNvPr id="3" name="Shape 1"/>
          <p:cNvSpPr/>
          <p:nvPr/>
        </p:nvSpPr>
        <p:spPr>
          <a:xfrm>
            <a:off x="0" y="868680"/>
            <a:ext cx="12188952" cy="45720"/>
          </a:xfrm>
          <a:prstGeom prst="rect">
            <a:avLst/>
          </a:prstGeom>
          <a:solidFill>
            <a:srgbClr val="0E7C86"/>
          </a:solidFill>
          <a:ln/>
        </p:spPr>
      </p:sp>
      <p:sp>
        <p:nvSpPr>
          <p:cNvPr id="4" name="Text 2"/>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5B6B7C"/>
                </a:solidFill>
              </a:rPr>
              <a:t>ReturnWise  |  SIT Pune  |  Foundations of Agentic AI</a:t>
            </a:r>
            <a:endParaRPr lang="en-US" sz="10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868680"/>
            <a:ext cx="12188952" cy="45720"/>
          </a:xfrm>
          <a:prstGeom prst="rect">
            <a:avLst/>
          </a:prstGeom>
          <a:solidFill>
            <a:srgbClr val="0E7C86"/>
          </a:solidFill>
          <a:ln/>
        </p:spPr>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E7C86"/>
          </a:solidFill>
          <a:ln w="12700">
            <a:solidFill>
              <a:srgbClr val="0E7C86"/>
            </a:solidFill>
            <a:prstDash val="solid"/>
          </a:ln>
        </p:spPr>
      </p:sp>
      <p:sp>
        <p:nvSpPr>
          <p:cNvPr id="3" name="Shape 1"/>
          <p:cNvSpPr/>
          <p:nvPr/>
        </p:nvSpPr>
        <p:spPr>
          <a:xfrm>
            <a:off x="731520" y="502920"/>
            <a:ext cx="1143000" cy="1143000"/>
          </a:xfrm>
          <a:prstGeom prst="roundRect">
            <a:avLst>
              <a:gd name="adj" fmla="val 6400"/>
            </a:avLst>
          </a:prstGeom>
          <a:solidFill>
            <a:srgbClr val="FFFFFF"/>
          </a:solidFill>
          <a:ln w="12700">
            <a:solidFill>
              <a:srgbClr val="FFFFFF"/>
            </a:solidFill>
            <a:prstDash val="solid"/>
          </a:ln>
        </p:spPr>
      </p:sp>
      <p:pic>
        <p:nvPicPr>
          <p:cNvPr id="4" name="Image 0" descr="SIT Pune logo (placeholder: replace with official logo)">    </p:cNvPr>
          <p:cNvPicPr>
            <a:picLocks noChangeAspect="1"/>
          </p:cNvPicPr>
          <p:nvPr/>
        </p:nvPicPr>
        <p:blipFill>
          <a:blip r:embed="rId1"/>
          <a:stretch>
            <a:fillRect/>
          </a:stretch>
        </p:blipFill>
        <p:spPr>
          <a:xfrm>
            <a:off x="804672" y="576072"/>
            <a:ext cx="996696" cy="996696"/>
          </a:xfrm>
          <a:prstGeom prst="rect">
            <a:avLst/>
          </a:prstGeom>
        </p:spPr>
      </p:pic>
      <p:sp>
        <p:nvSpPr>
          <p:cNvPr id="5" name="Text 2"/>
          <p:cNvSpPr txBox="1"/>
          <p:nvPr/>
        </p:nvSpPr>
        <p:spPr>
          <a:xfrm>
            <a:off x="2103120" y="640080"/>
            <a:ext cx="822960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Symbiosis Institute of Technology, Pune</a:t>
            </a:r>
            <a:endParaRPr lang="en-US" sz="2200" dirty="0"/>
          </a:p>
        </p:txBody>
      </p:sp>
      <p:sp>
        <p:nvSpPr>
          <p:cNvPr id="6" name="Text 3"/>
          <p:cNvSpPr txBox="1"/>
          <p:nvPr/>
        </p:nvSpPr>
        <p:spPr>
          <a:xfrm>
            <a:off x="2103120" y="1143000"/>
            <a:ext cx="8229600" cy="365760"/>
          </a:xfrm>
          <a:prstGeom prst="rect">
            <a:avLst/>
          </a:prstGeom>
          <a:noFill/>
          <a:ln/>
        </p:spPr>
        <p:txBody>
          <a:bodyPr wrap="square" lIns="0" tIns="0" rIns="0" bIns="0" rtlCol="0" anchor="t"/>
          <a:lstStyle/>
          <a:p>
            <a:pPr indent="0" marL="0">
              <a:buNone/>
            </a:pPr>
            <a:r>
              <a:rPr lang="en-US" sz="1500" dirty="0">
                <a:solidFill>
                  <a:srgbClr val="9FB3C8"/>
                </a:solidFill>
                <a:latin typeface="Calibri" pitchFamily="34" charset="0"/>
                <a:ea typeface="Calibri" pitchFamily="34" charset="-122"/>
                <a:cs typeface="Calibri" pitchFamily="34" charset="-120"/>
              </a:rPr>
              <a:t>Foundations of Agentic AI  |  Continuous Assessment 3 (CA-3)</a:t>
            </a:r>
            <a:endParaRPr lang="en-US" sz="1500" dirty="0"/>
          </a:p>
        </p:txBody>
      </p:sp>
      <p:sp>
        <p:nvSpPr>
          <p:cNvPr id="7" name="Text 4"/>
          <p:cNvSpPr txBox="1"/>
          <p:nvPr/>
        </p:nvSpPr>
        <p:spPr>
          <a:xfrm>
            <a:off x="731520" y="2240280"/>
            <a:ext cx="10515600" cy="100584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ReturnWise</a:t>
            </a:r>
            <a:endParaRPr lang="en-US" sz="6000" dirty="0"/>
          </a:p>
        </p:txBody>
      </p:sp>
      <p:sp>
        <p:nvSpPr>
          <p:cNvPr id="8" name="Text 5"/>
          <p:cNvSpPr txBox="1"/>
          <p:nvPr/>
        </p:nvSpPr>
        <p:spPr>
          <a:xfrm>
            <a:off x="731520" y="3291840"/>
            <a:ext cx="9601200" cy="822960"/>
          </a:xfrm>
          <a:prstGeom prst="rect">
            <a:avLst/>
          </a:prstGeom>
          <a:noFill/>
          <a:ln/>
        </p:spPr>
        <p:txBody>
          <a:bodyPr wrap="square" lIns="0" tIns="0" rIns="0" bIns="0" rtlCol="0" anchor="t"/>
          <a:lstStyle/>
          <a:p>
            <a:pPr indent="0" marL="0">
              <a:buNone/>
            </a:pPr>
            <a:r>
              <a:rPr lang="en-US" sz="2400" i="1" dirty="0">
                <a:solidFill>
                  <a:srgbClr val="CFE8EA"/>
                </a:solidFill>
                <a:latin typeface="Cambria" pitchFamily="34" charset="0"/>
                <a:ea typeface="Cambria" pitchFamily="34" charset="-122"/>
                <a:cs typeface="Cambria" pitchFamily="34" charset="-120"/>
              </a:rPr>
              <a:t>A Multi-Agent AI System for Intelligent E-commerce Return and Refund Resolution</a:t>
            </a:r>
            <a:endParaRPr lang="en-US" sz="2400" dirty="0"/>
          </a:p>
        </p:txBody>
      </p:sp>
      <p:sp>
        <p:nvSpPr>
          <p:cNvPr id="9" name="Shape 6"/>
          <p:cNvSpPr/>
          <p:nvPr/>
        </p:nvSpPr>
        <p:spPr>
          <a:xfrm>
            <a:off x="731520" y="4434840"/>
            <a:ext cx="10698480" cy="0"/>
          </a:xfrm>
          <a:prstGeom prst="line">
            <a:avLst/>
          </a:prstGeom>
          <a:noFill/>
          <a:ln w="19050">
            <a:solidFill>
              <a:srgbClr val="0E7C86"/>
            </a:solidFill>
            <a:prstDash val="solid"/>
          </a:ln>
        </p:spPr>
      </p:sp>
      <p:sp>
        <p:nvSpPr>
          <p:cNvPr id="10" name="Text 7"/>
          <p:cNvSpPr txBox="1"/>
          <p:nvPr/>
        </p:nvSpPr>
        <p:spPr>
          <a:xfrm>
            <a:off x="731520" y="4617720"/>
            <a:ext cx="4572000" cy="274320"/>
          </a:xfrm>
          <a:prstGeom prst="rect">
            <a:avLst/>
          </a:prstGeom>
          <a:noFill/>
          <a:ln/>
        </p:spPr>
        <p:txBody>
          <a:bodyPr wrap="square" lIns="0" tIns="0" rIns="0" bIns="0" rtlCol="0" anchor="t"/>
          <a:lstStyle/>
          <a:p>
            <a:pPr indent="0" marL="0">
              <a:buNone/>
            </a:pPr>
            <a:r>
              <a:rPr lang="en-US" sz="1300" dirty="0">
                <a:solidFill>
                  <a:srgbClr val="9FB3C8"/>
                </a:solidFill>
                <a:latin typeface="Calibri" pitchFamily="34" charset="0"/>
                <a:ea typeface="Calibri" pitchFamily="34" charset="-122"/>
                <a:cs typeface="Calibri" pitchFamily="34" charset="-120"/>
              </a:rPr>
              <a:t>Submitted by</a:t>
            </a:r>
            <a:endParaRPr lang="en-US" sz="1300" dirty="0"/>
          </a:p>
        </p:txBody>
      </p:sp>
      <p:sp>
        <p:nvSpPr>
          <p:cNvPr id="11" name="Text 8"/>
          <p:cNvSpPr txBox="1"/>
          <p:nvPr/>
        </p:nvSpPr>
        <p:spPr>
          <a:xfrm>
            <a:off x="731520" y="4937760"/>
            <a:ext cx="5029200" cy="1371600"/>
          </a:xfrm>
          <a:prstGeom prst="rect">
            <a:avLst/>
          </a:prstGeom>
          <a:noFill/>
          <a:ln/>
        </p:spPr>
        <p:txBody>
          <a:bodyPr wrap="square" lIns="0" tIns="0" rIns="0" bIns="0" rtlCol="0" anchor="t"/>
          <a:lstStyle/>
          <a:p>
            <a:pPr indent="0" marL="0">
              <a:spcAft>
                <a:spcPts val="300"/>
              </a:spcAft>
              <a:buNone/>
            </a:pPr>
            <a:r>
              <a:rPr lang="en-US" sz="1700" b="1" dirty="0">
                <a:solidFill>
                  <a:srgbClr val="FFFFFF"/>
                </a:solidFill>
                <a:latin typeface="Calibri" pitchFamily="34" charset="0"/>
                <a:ea typeface="Calibri" pitchFamily="34" charset="-122"/>
                <a:cs typeface="Calibri" pitchFamily="34" charset="-120"/>
              </a:rPr>
              <a:t>Nirvan Uttamchandani</a:t>
            </a:r>
            <a:endParaRPr lang="en-US" sz="1700" dirty="0"/>
          </a:p>
          <a:p>
            <a:pPr indent="0" marL="0">
              <a:spcAft>
                <a:spcPts val="300"/>
              </a:spcAft>
              <a:buNone/>
            </a:pPr>
            <a:r>
              <a:rPr lang="en-US" sz="1700" dirty="0">
                <a:solidFill>
                  <a:srgbClr val="CFE8EA"/>
                </a:solidFill>
                <a:latin typeface="Calibri" pitchFamily="34" charset="0"/>
                <a:ea typeface="Calibri" pitchFamily="34" charset="-122"/>
                <a:cs typeface="Calibri" pitchFamily="34" charset="-120"/>
              </a:rPr>
              <a:t>PRN: 24070126125</a:t>
            </a:r>
            <a:endParaRPr lang="en-US" sz="1700" dirty="0"/>
          </a:p>
          <a:p>
            <a:pPr indent="0" marL="0">
              <a:spcAft>
                <a:spcPts val="300"/>
              </a:spcAft>
              <a:buNone/>
            </a:pPr>
            <a:r>
              <a:rPr lang="en-US" sz="1700" b="1" dirty="0">
                <a:solidFill>
                  <a:srgbClr val="FFFFFF"/>
                </a:solidFill>
                <a:latin typeface="Calibri" pitchFamily="34" charset="0"/>
                <a:ea typeface="Calibri" pitchFamily="34" charset="-122"/>
                <a:cs typeface="Calibri" pitchFamily="34" charset="-120"/>
              </a:rPr>
              <a:t>Neel Lakhani</a:t>
            </a:r>
            <a:endParaRPr lang="en-US" sz="1700" dirty="0"/>
          </a:p>
          <a:p>
            <a:pPr indent="0" marL="0">
              <a:spcAft>
                <a:spcPts val="300"/>
              </a:spcAft>
              <a:buNone/>
            </a:pPr>
            <a:r>
              <a:rPr lang="en-US" sz="1700" dirty="0">
                <a:solidFill>
                  <a:srgbClr val="CFE8EA"/>
                </a:solidFill>
                <a:latin typeface="Calibri" pitchFamily="34" charset="0"/>
                <a:ea typeface="Calibri" pitchFamily="34" charset="-122"/>
                <a:cs typeface="Calibri" pitchFamily="34" charset="-120"/>
              </a:rPr>
              <a:t>PRN: 24070126120</a:t>
            </a:r>
            <a:endParaRPr lang="en-US" sz="1700" dirty="0"/>
          </a:p>
        </p:txBody>
      </p:sp>
      <p:sp>
        <p:nvSpPr>
          <p:cNvPr id="12" name="Text 9"/>
          <p:cNvSpPr txBox="1"/>
          <p:nvPr/>
        </p:nvSpPr>
        <p:spPr>
          <a:xfrm>
            <a:off x="6583680" y="4617720"/>
            <a:ext cx="4572000" cy="274320"/>
          </a:xfrm>
          <a:prstGeom prst="rect">
            <a:avLst/>
          </a:prstGeom>
          <a:noFill/>
          <a:ln/>
        </p:spPr>
        <p:txBody>
          <a:bodyPr wrap="square" lIns="0" tIns="0" rIns="0" bIns="0" rtlCol="0" anchor="t"/>
          <a:lstStyle/>
          <a:p>
            <a:pPr indent="0" marL="0">
              <a:buNone/>
            </a:pPr>
            <a:r>
              <a:rPr lang="en-US" sz="1300" dirty="0">
                <a:solidFill>
                  <a:srgbClr val="9FB3C8"/>
                </a:solidFill>
                <a:latin typeface="Calibri" pitchFamily="34" charset="0"/>
                <a:ea typeface="Calibri" pitchFamily="34" charset="-122"/>
                <a:cs typeface="Calibri" pitchFamily="34" charset="-120"/>
              </a:rPr>
              <a:t>Faculty guide</a:t>
            </a:r>
            <a:endParaRPr lang="en-US" sz="1300" dirty="0"/>
          </a:p>
        </p:txBody>
      </p:sp>
      <p:sp>
        <p:nvSpPr>
          <p:cNvPr id="13" name="Text 10"/>
          <p:cNvSpPr txBox="1"/>
          <p:nvPr/>
        </p:nvSpPr>
        <p:spPr>
          <a:xfrm>
            <a:off x="6583680" y="4937760"/>
            <a:ext cx="5120640" cy="1097280"/>
          </a:xfrm>
          <a:prstGeom prst="rect">
            <a:avLst/>
          </a:prstGeom>
          <a:noFill/>
          <a:ln/>
        </p:spPr>
        <p:txBody>
          <a:bodyPr wrap="square" lIns="0" tIns="0" rIns="0" bIns="0" rtlCol="0" anchor="t"/>
          <a:lstStyle/>
          <a:p>
            <a:pPr indent="0" marL="0">
              <a:spcAft>
                <a:spcPts val="300"/>
              </a:spcAft>
              <a:buNone/>
            </a:pPr>
            <a:r>
              <a:rPr lang="en-US" sz="1700" b="1" dirty="0">
                <a:solidFill>
                  <a:srgbClr val="FFFFFF"/>
                </a:solidFill>
                <a:latin typeface="Calibri" pitchFamily="34" charset="0"/>
                <a:ea typeface="Calibri" pitchFamily="34" charset="-122"/>
                <a:cs typeface="Calibri" pitchFamily="34" charset="-120"/>
              </a:rPr>
              <a:t>Dr. Harshal Raut</a:t>
            </a:r>
            <a:endParaRPr lang="en-US" sz="1700" dirty="0"/>
          </a:p>
          <a:p>
            <a:pPr indent="0" marL="0">
              <a:spcAft>
                <a:spcPts val="300"/>
              </a:spcAft>
              <a:buNone/>
            </a:pPr>
            <a:r>
              <a:rPr lang="en-US" sz="1700" dirty="0">
                <a:solidFill>
                  <a:srgbClr val="CFE8EA"/>
                </a:solidFill>
                <a:latin typeface="Calibri" pitchFamily="34" charset="0"/>
                <a:ea typeface="Calibri" pitchFamily="34" charset="-122"/>
                <a:cs typeface="Calibri" pitchFamily="34" charset="-120"/>
              </a:rPr>
              <a:t>Proof of Concept: Streamlit UI with synthetic data</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Project requirements and where each one is covered</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31520" y="1280160"/>
          <a:ext cx="10698480" cy="914400"/>
        </p:xfrm>
        <a:graphic>
          <a:graphicData uri="http://schemas.openxmlformats.org/drawingml/2006/table">
            <a:tbl>
              <a:tblPr/>
              <a:tblGrid>
                <a:gridCol w="731520"/>
                <a:gridCol w="7498080"/>
                <a:gridCol w="246888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Requirement set by the faculty</a:t>
                      </a:r>
                      <a:endParaRPr lang="en-US" sz="14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Covered in</a:t>
                      </a:r>
                      <a:endParaRPr lang="en-US" sz="14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A"/>
                    </a:solidFill>
                  </a:tcPr>
                </a:tc>
              </a:tr>
              <a:tr h="566928">
                <a:tc>
                  <a:txBody>
                    <a:bodyPr/>
                    <a:lstStyle/>
                    <a:p>
                      <a:pPr algn="ctr" indent="0" marL="0">
                        <a:buNone/>
                      </a:pPr>
                      <a:r>
                        <a:rPr lang="en-US" sz="1600" b="1" dirty="0">
                          <a:solidFill>
                            <a:srgbClr val="1B24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1B2430"/>
                          </a:solidFill>
                          <a:latin typeface="Calibri" pitchFamily="34" charset="0"/>
                          <a:ea typeface="Calibri" pitchFamily="34" charset="-122"/>
                          <a:cs typeface="Calibri" pitchFamily="34" charset="-120"/>
                        </a:rPr>
                        <a:t>Problem statement and domain justification</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0E7C86"/>
                          </a:solidFill>
                          <a:latin typeface="Calibri" pitchFamily="34" charset="0"/>
                          <a:ea typeface="Calibri" pitchFamily="34" charset="-122"/>
                          <a:cs typeface="Calibri" pitchFamily="34" charset="-120"/>
                        </a:rPr>
                        <a:t>Slides 3-4</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r>
              <a:tr h="566928">
                <a:tc>
                  <a:txBody>
                    <a:bodyPr/>
                    <a:lstStyle/>
                    <a:p>
                      <a:pPr algn="ctr" indent="0" marL="0">
                        <a:buNone/>
                      </a:pPr>
                      <a:r>
                        <a:rPr lang="en-US" sz="1600" b="1" dirty="0">
                          <a:solidFill>
                            <a:srgbClr val="1B24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1B2430"/>
                          </a:solidFill>
                          <a:latin typeface="Calibri" pitchFamily="34" charset="0"/>
                          <a:ea typeface="Calibri" pitchFamily="34" charset="-122"/>
                          <a:cs typeface="Calibri" pitchFamily="34" charset="-120"/>
                        </a:rPr>
                        <a:t>Existing business challenge and proposed solution</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0E7C86"/>
                          </a:solidFill>
                          <a:latin typeface="Calibri" pitchFamily="34" charset="0"/>
                          <a:ea typeface="Calibri" pitchFamily="34" charset="-122"/>
                          <a:cs typeface="Calibri" pitchFamily="34" charset="-120"/>
                        </a:rPr>
                        <a:t>Slides 4-5</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r>
              <a:tr h="566928">
                <a:tc>
                  <a:txBody>
                    <a:bodyPr/>
                    <a:lstStyle/>
                    <a:p>
                      <a:pPr algn="ctr" indent="0" marL="0">
                        <a:buNone/>
                      </a:pPr>
                      <a:r>
                        <a:rPr lang="en-US" sz="1600" b="1" dirty="0">
                          <a:solidFill>
                            <a:srgbClr val="1B24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1B2430"/>
                          </a:solidFill>
                          <a:latin typeface="Calibri" pitchFamily="34" charset="0"/>
                          <a:ea typeface="Calibri" pitchFamily="34" charset="-122"/>
                          <a:cs typeface="Calibri" pitchFamily="34" charset="-120"/>
                        </a:rPr>
                        <a:t>Agent roles, responsibilities and orchestration workflow</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0E7C86"/>
                          </a:solidFill>
                          <a:latin typeface="Calibri" pitchFamily="34" charset="0"/>
                          <a:ea typeface="Calibri" pitchFamily="34" charset="-122"/>
                          <a:cs typeface="Calibri" pitchFamily="34" charset="-120"/>
                        </a:rPr>
                        <a:t>Slides 6-7, 10-11</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r>
              <a:tr h="566928">
                <a:tc>
                  <a:txBody>
                    <a:bodyPr/>
                    <a:lstStyle/>
                    <a:p>
                      <a:pPr algn="ctr" indent="0" marL="0">
                        <a:buNone/>
                      </a:pPr>
                      <a:r>
                        <a:rPr lang="en-US" sz="1600" b="1" dirty="0">
                          <a:solidFill>
                            <a:srgbClr val="1B24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1B2430"/>
                          </a:solidFill>
                          <a:latin typeface="Calibri" pitchFamily="34" charset="0"/>
                          <a:ea typeface="Calibri" pitchFamily="34" charset="-122"/>
                          <a:cs typeface="Calibri" pitchFamily="34" charset="-120"/>
                        </a:rPr>
                        <a:t>Complete architecture diagram: agents, data flow, tools, decisions</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0E7C86"/>
                          </a:solidFill>
                          <a:latin typeface="Calibri" pitchFamily="34" charset="0"/>
                          <a:ea typeface="Calibri" pitchFamily="34" charset="-122"/>
                          <a:cs typeface="Calibri" pitchFamily="34" charset="-120"/>
                        </a:rPr>
                        <a:t>Slides 8-13</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r>
              <a:tr h="566928">
                <a:tc>
                  <a:txBody>
                    <a:bodyPr/>
                    <a:lstStyle/>
                    <a:p>
                      <a:pPr algn="ctr" indent="0" marL="0">
                        <a:buNone/>
                      </a:pPr>
                      <a:r>
                        <a:rPr lang="en-US" sz="1600" b="1" dirty="0">
                          <a:solidFill>
                            <a:srgbClr val="1B24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1B2430"/>
                          </a:solidFill>
                          <a:latin typeface="Calibri" pitchFamily="34" charset="0"/>
                          <a:ea typeface="Calibri" pitchFamily="34" charset="-122"/>
                          <a:cs typeface="Calibri" pitchFamily="34" charset="-120"/>
                        </a:rPr>
                        <a:t>Working Streamlit UI proof of concept (synthetic data)</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0E7C86"/>
                          </a:solidFill>
                          <a:latin typeface="Calibri" pitchFamily="34" charset="0"/>
                          <a:ea typeface="Calibri" pitchFamily="34" charset="-122"/>
                          <a:cs typeface="Calibri" pitchFamily="34" charset="-120"/>
                        </a:rPr>
                        <a:t>Slides 14-17</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r>
              <a:tr h="566928">
                <a:tc>
                  <a:txBody>
                    <a:bodyPr/>
                    <a:lstStyle/>
                    <a:p>
                      <a:pPr algn="ctr" indent="0" marL="0">
                        <a:buNone/>
                      </a:pPr>
                      <a:r>
                        <a:rPr lang="en-US" sz="1600" b="1" dirty="0">
                          <a:solidFill>
                            <a:srgbClr val="1B24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1B2430"/>
                          </a:solidFill>
                          <a:latin typeface="Calibri" pitchFamily="34" charset="0"/>
                          <a:ea typeface="Calibri" pitchFamily="34" charset="-122"/>
                          <a:cs typeface="Calibri" pitchFamily="34" charset="-120"/>
                        </a:rPr>
                        <a:t>Output validation, results, limitations and future scope</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0E7C86"/>
                          </a:solidFill>
                          <a:latin typeface="Calibri" pitchFamily="34" charset="0"/>
                          <a:ea typeface="Calibri" pitchFamily="34" charset="-122"/>
                          <a:cs typeface="Calibri" pitchFamily="34" charset="-120"/>
                        </a:rPr>
                        <a:t>Slides 18-22</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r>
              <a:tr h="566928">
                <a:tc>
                  <a:txBody>
                    <a:bodyPr/>
                    <a:lstStyle/>
                    <a:p>
                      <a:pPr algn="ctr" indent="0" marL="0">
                        <a:buNone/>
                      </a:pPr>
                      <a:r>
                        <a:rPr lang="en-US" sz="1600" b="1" dirty="0">
                          <a:solidFill>
                            <a:srgbClr val="1B24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1B2430"/>
                          </a:solidFill>
                          <a:latin typeface="Calibri" pitchFamily="34" charset="0"/>
                          <a:ea typeface="Calibri" pitchFamily="34" charset="-122"/>
                          <a:cs typeface="Calibri" pitchFamily="34" charset="-120"/>
                        </a:rPr>
                        <a:t>This presentation: problem, solution, architecture, demonstration</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c>
                  <a:txBody>
                    <a:bodyPr/>
                    <a:lstStyle/>
                    <a:p>
                      <a:pPr algn="l" indent="0" marL="0">
                        <a:buNone/>
                      </a:pPr>
                      <a:r>
                        <a:rPr lang="en-US" sz="1600" dirty="0">
                          <a:solidFill>
                            <a:srgbClr val="0E7C86"/>
                          </a:solidFill>
                          <a:latin typeface="Calibri" pitchFamily="34" charset="0"/>
                          <a:ea typeface="Calibri" pitchFamily="34" charset="-122"/>
                          <a:cs typeface="Calibri" pitchFamily="34" charset="-120"/>
                        </a:rPr>
                        <a:t>All slides</a:t>
                      </a:r>
                      <a:endParaRPr lang="en-US" sz="1600" dirty="0">
                        <a:latin typeface="Calibri" charset="0"/>
                        <a:ea typeface="Calibri" charset="0"/>
                        <a:cs typeface="Calibri" charset="0"/>
                      </a:endParaRPr>
                    </a:p>
                  </a:txBody>
                  <a:tcPr marL="109728" marR="109728" marT="0" marB="0"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tcPr>
                </a:tc>
              </a:tr>
            </a:tbl>
          </a:graphicData>
        </a:graphic>
      </p:graphicFrame>
      <p:sp>
        <p:nvSpPr>
          <p:cNvPr id="5" name="Text 1"/>
          <p:cNvSpPr txBox="1"/>
          <p:nvPr/>
        </p:nvSpPr>
        <p:spPr>
          <a:xfrm>
            <a:off x="731520" y="6035040"/>
            <a:ext cx="10698480" cy="365760"/>
          </a:xfrm>
          <a:prstGeom prst="rect">
            <a:avLst/>
          </a:prstGeom>
          <a:noFill/>
          <a:ln/>
        </p:spPr>
        <p:txBody>
          <a:bodyPr wrap="square" lIns="0" tIns="0" rIns="0" bIns="0" rtlCol="0" anchor="t"/>
          <a:lstStyle/>
          <a:p>
            <a:pPr indent="0" marL="0">
              <a:buNone/>
            </a:pPr>
            <a:r>
              <a:rPr lang="en-US" sz="1400" i="1" dirty="0">
                <a:solidFill>
                  <a:srgbClr val="5B6B7C"/>
                </a:solidFill>
                <a:latin typeface="Calibri" pitchFamily="34" charset="0"/>
                <a:ea typeface="Calibri" pitchFamily="34" charset="-122"/>
                <a:cs typeface="Calibri" pitchFamily="34" charset="-120"/>
              </a:rPr>
              <a:t>All data in the demonstration is synthetic: 20 fictional orders, 8 product categories and fictional store policies.</a:t>
            </a:r>
            <a:endParaRPr lang="en-US" sz="14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Problem statement and domain justification</a:t>
            </a:r>
            <a:endParaRPr lang="en-US" sz="2600" dirty="0"/>
          </a:p>
        </p:txBody>
      </p:sp>
      <p:sp>
        <p:nvSpPr>
          <p:cNvPr id="4" name="Shape 1"/>
          <p:cNvSpPr/>
          <p:nvPr/>
        </p:nvSpPr>
        <p:spPr>
          <a:xfrm>
            <a:off x="457200" y="1188720"/>
            <a:ext cx="11247120" cy="1234440"/>
          </a:xfrm>
          <a:prstGeom prst="rect">
            <a:avLst/>
          </a:prstGeom>
          <a:solidFill>
            <a:srgbClr val="E8F3F4"/>
          </a:solidFill>
          <a:ln w="9525">
            <a:solidFill>
              <a:srgbClr val="D5DDE5"/>
            </a:solidFill>
            <a:prstDash val="solid"/>
          </a:ln>
        </p:spPr>
      </p:sp>
      <p:sp>
        <p:nvSpPr>
          <p:cNvPr id="5" name="Text 2"/>
          <p:cNvSpPr txBox="1"/>
          <p:nvPr/>
        </p:nvSpPr>
        <p:spPr>
          <a:xfrm>
            <a:off x="685800" y="1298448"/>
            <a:ext cx="10789920" cy="1097280"/>
          </a:xfrm>
          <a:prstGeom prst="rect">
            <a:avLst/>
          </a:prstGeom>
          <a:noFill/>
          <a:ln/>
        </p:spPr>
        <p:txBody>
          <a:bodyPr wrap="square" lIns="0" tIns="0" rIns="0" bIns="0" rtlCol="0" anchor="t"/>
          <a:lstStyle/>
          <a:p>
            <a:pPr indent="0" marL="0">
              <a:spcAft>
                <a:spcPts val="400"/>
              </a:spcAft>
              <a:buNone/>
            </a:pPr>
            <a:r>
              <a:rPr lang="en-US" sz="1400" b="1" dirty="0">
                <a:solidFill>
                  <a:srgbClr val="0E7C86"/>
                </a:solidFill>
                <a:latin typeface="Calibri" pitchFamily="34" charset="0"/>
                <a:ea typeface="Calibri" pitchFamily="34" charset="-122"/>
                <a:cs typeface="Calibri" pitchFamily="34" charset="-120"/>
              </a:rPr>
              <a:t>Problem statement</a:t>
            </a:r>
            <a:endParaRPr lang="en-US" sz="1400" dirty="0"/>
          </a:p>
          <a:p>
            <a:pPr indent="0" marL="0">
              <a:spcAft>
                <a:spcPts val="400"/>
              </a:spcAft>
              <a:buNone/>
            </a:pPr>
            <a:r>
              <a:rPr lang="en-US" sz="1700" dirty="0">
                <a:solidFill>
                  <a:srgbClr val="1B2430"/>
                </a:solidFill>
                <a:latin typeface="Calibri" pitchFamily="34" charset="0"/>
                <a:ea typeface="Calibri" pitchFamily="34" charset="-122"/>
                <a:cs typeface="Calibri" pitchFamily="34" charset="-120"/>
              </a:rPr>
              <a:t>Support teams must decide, for every return request, whether to refund, replace, reject or escalate. Doing this by hand means checking the order, the product policy, the return window and the amount each time, which is slow, inconsistent and hard to audit.</a:t>
            </a:r>
            <a:endParaRPr lang="en-US" sz="1400" dirty="0"/>
          </a:p>
        </p:txBody>
      </p:sp>
      <p:sp>
        <p:nvSpPr>
          <p:cNvPr id="6" name="Text 3"/>
          <p:cNvSpPr txBox="1"/>
          <p:nvPr/>
        </p:nvSpPr>
        <p:spPr>
          <a:xfrm>
            <a:off x="457200" y="2651760"/>
            <a:ext cx="10972800" cy="36576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Why e-commerce returns suit a multi-agent system</a:t>
            </a:r>
            <a:endParaRPr lang="en-US" sz="1800" dirty="0"/>
          </a:p>
        </p:txBody>
      </p:sp>
      <p:sp>
        <p:nvSpPr>
          <p:cNvPr id="7" name="Shape 4"/>
          <p:cNvSpPr/>
          <p:nvPr/>
        </p:nvSpPr>
        <p:spPr>
          <a:xfrm>
            <a:off x="457200" y="3200400"/>
            <a:ext cx="2697480" cy="3017520"/>
          </a:xfrm>
          <a:prstGeom prst="rect">
            <a:avLst/>
          </a:prstGeom>
          <a:solidFill>
            <a:srgbClr val="F2F5F8"/>
          </a:solidFill>
          <a:ln w="9525">
            <a:solidFill>
              <a:srgbClr val="D5DDE5"/>
            </a:solidFill>
            <a:prstDash val="solid"/>
          </a:ln>
        </p:spPr>
      </p:sp>
      <p:sp>
        <p:nvSpPr>
          <p:cNvPr id="8" name="Shape 5"/>
          <p:cNvSpPr/>
          <p:nvPr/>
        </p:nvSpPr>
        <p:spPr>
          <a:xfrm>
            <a:off x="640080" y="3383280"/>
            <a:ext cx="548640" cy="548640"/>
          </a:xfrm>
          <a:prstGeom prst="ellipse">
            <a:avLst/>
          </a:prstGeom>
          <a:solidFill>
            <a:srgbClr val="0E7C86"/>
          </a:solidFill>
          <a:ln w="12700">
            <a:solidFill>
              <a:srgbClr val="0E7C86"/>
            </a:solidFill>
            <a:prstDash val="solid"/>
          </a:ln>
        </p:spPr>
      </p:sp>
      <p:pic>
        <p:nvPicPr>
          <p:cNvPr id="9" name="Image 0" descr="scale icon">    </p:cNvPr>
          <p:cNvPicPr>
            <a:picLocks noChangeAspect="1"/>
          </p:cNvPicPr>
          <p:nvPr/>
        </p:nvPicPr>
        <p:blipFill>
          <a:blip r:embed="rId1"/>
          <a:stretch>
            <a:fillRect/>
          </a:stretch>
        </p:blipFill>
        <p:spPr>
          <a:xfrm>
            <a:off x="760781" y="3503981"/>
            <a:ext cx="307238" cy="307238"/>
          </a:xfrm>
          <a:prstGeom prst="rect">
            <a:avLst/>
          </a:prstGeom>
        </p:spPr>
      </p:pic>
      <p:sp>
        <p:nvSpPr>
          <p:cNvPr id="10" name="Text 6"/>
          <p:cNvSpPr txBox="1"/>
          <p:nvPr/>
        </p:nvSpPr>
        <p:spPr>
          <a:xfrm>
            <a:off x="640080" y="4069080"/>
            <a:ext cx="2377440" cy="36576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Rule-driven domain</a:t>
            </a:r>
            <a:endParaRPr lang="en-US" sz="1600" dirty="0"/>
          </a:p>
        </p:txBody>
      </p:sp>
      <p:sp>
        <p:nvSpPr>
          <p:cNvPr id="11" name="Text 7"/>
          <p:cNvSpPr txBox="1"/>
          <p:nvPr/>
        </p:nvSpPr>
        <p:spPr>
          <a:xfrm>
            <a:off x="640080" y="4480560"/>
            <a:ext cx="2377440" cy="164592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Eligibility depends on explicit facts: order status, category, days since delivery, reason. Each fact can be checked by a program.</a:t>
            </a:r>
            <a:endParaRPr lang="en-US" sz="1500" dirty="0"/>
          </a:p>
        </p:txBody>
      </p:sp>
      <p:sp>
        <p:nvSpPr>
          <p:cNvPr id="12" name="Shape 8"/>
          <p:cNvSpPr/>
          <p:nvPr/>
        </p:nvSpPr>
        <p:spPr>
          <a:xfrm>
            <a:off x="3291840" y="3200400"/>
            <a:ext cx="2697480" cy="3017520"/>
          </a:xfrm>
          <a:prstGeom prst="rect">
            <a:avLst/>
          </a:prstGeom>
          <a:solidFill>
            <a:srgbClr val="F2F5F8"/>
          </a:solidFill>
          <a:ln w="9525">
            <a:solidFill>
              <a:srgbClr val="D5DDE5"/>
            </a:solidFill>
            <a:prstDash val="solid"/>
          </a:ln>
        </p:spPr>
      </p:sp>
      <p:sp>
        <p:nvSpPr>
          <p:cNvPr id="13" name="Shape 9"/>
          <p:cNvSpPr/>
          <p:nvPr/>
        </p:nvSpPr>
        <p:spPr>
          <a:xfrm>
            <a:off x="3474720" y="3383280"/>
            <a:ext cx="548640" cy="548640"/>
          </a:xfrm>
          <a:prstGeom prst="ellipse">
            <a:avLst/>
          </a:prstGeom>
          <a:solidFill>
            <a:srgbClr val="0E7C86"/>
          </a:solidFill>
          <a:ln w="12700">
            <a:solidFill>
              <a:srgbClr val="0E7C86"/>
            </a:solidFill>
            <a:prstDash val="solid"/>
          </a:ln>
        </p:spPr>
      </p:sp>
      <p:pic>
        <p:nvPicPr>
          <p:cNvPr id="14" name="Image 1" descr="alert icon">    </p:cNvPr>
          <p:cNvPicPr>
            <a:picLocks noChangeAspect="1"/>
          </p:cNvPicPr>
          <p:nvPr/>
        </p:nvPicPr>
        <p:blipFill>
          <a:blip r:embed="rId2"/>
          <a:stretch>
            <a:fillRect/>
          </a:stretch>
        </p:blipFill>
        <p:spPr>
          <a:xfrm>
            <a:off x="3595421" y="3503981"/>
            <a:ext cx="307238" cy="307238"/>
          </a:xfrm>
          <a:prstGeom prst="rect">
            <a:avLst/>
          </a:prstGeom>
        </p:spPr>
      </p:pic>
      <p:sp>
        <p:nvSpPr>
          <p:cNvPr id="15" name="Text 10"/>
          <p:cNvSpPr txBox="1"/>
          <p:nvPr/>
        </p:nvSpPr>
        <p:spPr>
          <a:xfrm>
            <a:off x="3474720" y="4069080"/>
            <a:ext cx="2377440" cy="36576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Costly mistakes</a:t>
            </a:r>
            <a:endParaRPr lang="en-US" sz="1600" dirty="0"/>
          </a:p>
        </p:txBody>
      </p:sp>
      <p:sp>
        <p:nvSpPr>
          <p:cNvPr id="16" name="Text 11"/>
          <p:cNvSpPr txBox="1"/>
          <p:nvPr/>
        </p:nvSpPr>
        <p:spPr>
          <a:xfrm>
            <a:off x="3474720" y="4480560"/>
            <a:ext cx="2377440" cy="164592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A wrong amount or an approved non-returnable item is real money lost, so decisions need an independent second check.</a:t>
            </a:r>
            <a:endParaRPr lang="en-US" sz="1500" dirty="0"/>
          </a:p>
        </p:txBody>
      </p:sp>
      <p:sp>
        <p:nvSpPr>
          <p:cNvPr id="17" name="Shape 12"/>
          <p:cNvSpPr/>
          <p:nvPr/>
        </p:nvSpPr>
        <p:spPr>
          <a:xfrm>
            <a:off x="6126480" y="3200400"/>
            <a:ext cx="2697480" cy="3017520"/>
          </a:xfrm>
          <a:prstGeom prst="rect">
            <a:avLst/>
          </a:prstGeom>
          <a:solidFill>
            <a:srgbClr val="F2F5F8"/>
          </a:solidFill>
          <a:ln w="9525">
            <a:solidFill>
              <a:srgbClr val="D5DDE5"/>
            </a:solidFill>
            <a:prstDash val="solid"/>
          </a:ln>
        </p:spPr>
      </p:sp>
      <p:sp>
        <p:nvSpPr>
          <p:cNvPr id="18" name="Shape 13"/>
          <p:cNvSpPr/>
          <p:nvPr/>
        </p:nvSpPr>
        <p:spPr>
          <a:xfrm>
            <a:off x="6309360" y="3383280"/>
            <a:ext cx="548640" cy="548640"/>
          </a:xfrm>
          <a:prstGeom prst="ellipse">
            <a:avLst/>
          </a:prstGeom>
          <a:solidFill>
            <a:srgbClr val="0E7C86"/>
          </a:solidFill>
          <a:ln w="12700">
            <a:solidFill>
              <a:srgbClr val="0E7C86"/>
            </a:solidFill>
            <a:prstDash val="solid"/>
          </a:ln>
        </p:spPr>
      </p:sp>
      <p:pic>
        <p:nvPicPr>
          <p:cNvPr id="19" name="Image 2" descr="clip icon">    </p:cNvPr>
          <p:cNvPicPr>
            <a:picLocks noChangeAspect="1"/>
          </p:cNvPicPr>
          <p:nvPr/>
        </p:nvPicPr>
        <p:blipFill>
          <a:blip r:embed="rId3"/>
          <a:stretch>
            <a:fillRect/>
          </a:stretch>
        </p:blipFill>
        <p:spPr>
          <a:xfrm>
            <a:off x="6430061" y="3503981"/>
            <a:ext cx="307238" cy="307238"/>
          </a:xfrm>
          <a:prstGeom prst="rect">
            <a:avLst/>
          </a:prstGeom>
        </p:spPr>
      </p:pic>
      <p:sp>
        <p:nvSpPr>
          <p:cNvPr id="20" name="Text 14"/>
          <p:cNvSpPr txBox="1"/>
          <p:nvPr/>
        </p:nvSpPr>
        <p:spPr>
          <a:xfrm>
            <a:off x="6309360" y="4069080"/>
            <a:ext cx="2377440" cy="36576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Needs an audit trail</a:t>
            </a:r>
            <a:endParaRPr lang="en-US" sz="1600" dirty="0"/>
          </a:p>
        </p:txBody>
      </p:sp>
      <p:sp>
        <p:nvSpPr>
          <p:cNvPr id="21" name="Text 15"/>
          <p:cNvSpPr txBox="1"/>
          <p:nvPr/>
        </p:nvSpPr>
        <p:spPr>
          <a:xfrm>
            <a:off x="6309360" y="4480560"/>
            <a:ext cx="2377440" cy="164592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Every decision must be explainable afterwards: which data was read, which rule passed or failed, who decided what.</a:t>
            </a:r>
            <a:endParaRPr lang="en-US" sz="1500" dirty="0"/>
          </a:p>
        </p:txBody>
      </p:sp>
      <p:sp>
        <p:nvSpPr>
          <p:cNvPr id="22" name="Shape 16"/>
          <p:cNvSpPr/>
          <p:nvPr/>
        </p:nvSpPr>
        <p:spPr>
          <a:xfrm>
            <a:off x="8961120" y="3200400"/>
            <a:ext cx="2697480" cy="3017520"/>
          </a:xfrm>
          <a:prstGeom prst="rect">
            <a:avLst/>
          </a:prstGeom>
          <a:solidFill>
            <a:srgbClr val="F2F5F8"/>
          </a:solidFill>
          <a:ln w="9525">
            <a:solidFill>
              <a:srgbClr val="D5DDE5"/>
            </a:solidFill>
            <a:prstDash val="solid"/>
          </a:ln>
        </p:spPr>
      </p:sp>
      <p:sp>
        <p:nvSpPr>
          <p:cNvPr id="23" name="Shape 17"/>
          <p:cNvSpPr/>
          <p:nvPr/>
        </p:nvSpPr>
        <p:spPr>
          <a:xfrm>
            <a:off x="9144000" y="3383280"/>
            <a:ext cx="548640" cy="548640"/>
          </a:xfrm>
          <a:prstGeom prst="ellipse">
            <a:avLst/>
          </a:prstGeom>
          <a:solidFill>
            <a:srgbClr val="0E7C86"/>
          </a:solidFill>
          <a:ln w="12700">
            <a:solidFill>
              <a:srgbClr val="0E7C86"/>
            </a:solidFill>
            <a:prstDash val="solid"/>
          </a:ln>
        </p:spPr>
      </p:sp>
      <p:pic>
        <p:nvPicPr>
          <p:cNvPr id="24" name="Image 3" descr="cog icon">    </p:cNvPr>
          <p:cNvPicPr>
            <a:picLocks noChangeAspect="1"/>
          </p:cNvPicPr>
          <p:nvPr/>
        </p:nvPicPr>
        <p:blipFill>
          <a:blip r:embed="rId4"/>
          <a:stretch>
            <a:fillRect/>
          </a:stretch>
        </p:blipFill>
        <p:spPr>
          <a:xfrm>
            <a:off x="9264701" y="3503981"/>
            <a:ext cx="307238" cy="307238"/>
          </a:xfrm>
          <a:prstGeom prst="rect">
            <a:avLst/>
          </a:prstGeom>
        </p:spPr>
      </p:pic>
      <p:sp>
        <p:nvSpPr>
          <p:cNvPr id="25" name="Text 18"/>
          <p:cNvSpPr txBox="1"/>
          <p:nvPr/>
        </p:nvSpPr>
        <p:spPr>
          <a:xfrm>
            <a:off x="9144000" y="4069080"/>
            <a:ext cx="2377440" cy="36576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Naturally staged</a:t>
            </a:r>
            <a:endParaRPr lang="en-US" sz="1600" dirty="0"/>
          </a:p>
        </p:txBody>
      </p:sp>
      <p:sp>
        <p:nvSpPr>
          <p:cNvPr id="26" name="Text 19"/>
          <p:cNvSpPr txBox="1"/>
          <p:nvPr/>
        </p:nvSpPr>
        <p:spPr>
          <a:xfrm>
            <a:off x="9144000" y="4480560"/>
            <a:ext cx="2377440" cy="164592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Intake, research, rule check, decision and review are distinct jobs, so each maps to a specialised agent.</a:t>
            </a:r>
            <a:endParaRPr lang="en-US" sz="15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Existing business challenge and proposed solution</a:t>
            </a:r>
            <a:endParaRPr lang="en-US" sz="2600" dirty="0"/>
          </a:p>
        </p:txBody>
      </p:sp>
      <p:sp>
        <p:nvSpPr>
          <p:cNvPr id="4" name="Shape 1"/>
          <p:cNvSpPr/>
          <p:nvPr/>
        </p:nvSpPr>
        <p:spPr>
          <a:xfrm>
            <a:off x="457200" y="1188720"/>
            <a:ext cx="5486400" cy="5029200"/>
          </a:xfrm>
          <a:prstGeom prst="rect">
            <a:avLst/>
          </a:prstGeom>
          <a:solidFill>
            <a:srgbClr val="F7EDED"/>
          </a:solidFill>
          <a:ln w="9525">
            <a:solidFill>
              <a:srgbClr val="D5DDE5"/>
            </a:solidFill>
            <a:prstDash val="solid"/>
          </a:ln>
        </p:spPr>
      </p:sp>
      <p:sp>
        <p:nvSpPr>
          <p:cNvPr id="5" name="Text 2"/>
          <p:cNvSpPr txBox="1"/>
          <p:nvPr/>
        </p:nvSpPr>
        <p:spPr>
          <a:xfrm>
            <a:off x="685800" y="1325880"/>
            <a:ext cx="5029200" cy="365760"/>
          </a:xfrm>
          <a:prstGeom prst="rect">
            <a:avLst/>
          </a:prstGeom>
          <a:noFill/>
          <a:ln/>
        </p:spPr>
        <p:txBody>
          <a:bodyPr wrap="square" lIns="0" tIns="0" rIns="0" bIns="0" rtlCol="0" anchor="t"/>
          <a:lstStyle/>
          <a:p>
            <a:pPr indent="0" marL="0">
              <a:buNone/>
            </a:pPr>
            <a:r>
              <a:rPr lang="en-US" sz="1800" b="1" dirty="0">
                <a:solidFill>
                  <a:srgbClr val="B23A3A"/>
                </a:solidFill>
                <a:latin typeface="Cambria" pitchFamily="34" charset="0"/>
                <a:ea typeface="Cambria" pitchFamily="34" charset="-122"/>
                <a:cs typeface="Cambria" pitchFamily="34" charset="-120"/>
              </a:rPr>
              <a:t>Existing challenge (manual process)</a:t>
            </a:r>
            <a:endParaRPr lang="en-US" sz="1800" dirty="0"/>
          </a:p>
        </p:txBody>
      </p:sp>
      <p:sp>
        <p:nvSpPr>
          <p:cNvPr id="6" name="Text 3"/>
          <p:cNvSpPr txBox="1"/>
          <p:nvPr/>
        </p:nvSpPr>
        <p:spPr>
          <a:xfrm>
            <a:off x="685800" y="1920240"/>
            <a:ext cx="5029200" cy="4297680"/>
          </a:xfrm>
          <a:prstGeom prst="rect">
            <a:avLst/>
          </a:prstGeom>
          <a:noFill/>
          <a:ln/>
        </p:spPr>
        <p:txBody>
          <a:bodyPr wrap="square" lIns="0" tIns="0" rIns="0" bIns="0" rtlCol="0" anchor="t"/>
          <a:lstStyle/>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An agent opens the order, finds the policy and counts days by hand for each ticket</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Two agents can decide the same case differently</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Refund amounts are typed manually, so slips happen</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Restricted items (digital licences, hygiene) can be approved by mistake</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Ambiguous cases are not clearly flagged for review</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No consistent record of why a decision was made</a:t>
            </a:r>
            <a:endParaRPr lang="en-US" sz="1700" dirty="0"/>
          </a:p>
        </p:txBody>
      </p:sp>
      <p:sp>
        <p:nvSpPr>
          <p:cNvPr id="7" name="Shape 4"/>
          <p:cNvSpPr/>
          <p:nvPr/>
        </p:nvSpPr>
        <p:spPr>
          <a:xfrm>
            <a:off x="5989320" y="3383280"/>
            <a:ext cx="411480" cy="548640"/>
          </a:xfrm>
          <a:prstGeom prst="rightArrow">
            <a:avLst/>
          </a:prstGeom>
          <a:solidFill>
            <a:srgbClr val="0E7C86"/>
          </a:solidFill>
          <a:ln w="12700">
            <a:solidFill>
              <a:srgbClr val="0E7C86"/>
            </a:solidFill>
            <a:prstDash val="solid"/>
          </a:ln>
        </p:spPr>
      </p:sp>
      <p:sp>
        <p:nvSpPr>
          <p:cNvPr id="8" name="Shape 5"/>
          <p:cNvSpPr/>
          <p:nvPr/>
        </p:nvSpPr>
        <p:spPr>
          <a:xfrm>
            <a:off x="6446520" y="1188720"/>
            <a:ext cx="5257800" cy="5029200"/>
          </a:xfrm>
          <a:prstGeom prst="rect">
            <a:avLst/>
          </a:prstGeom>
          <a:solidFill>
            <a:srgbClr val="E8F3F4"/>
          </a:solidFill>
          <a:ln w="9525">
            <a:solidFill>
              <a:srgbClr val="D5DDE5"/>
            </a:solidFill>
            <a:prstDash val="solid"/>
          </a:ln>
        </p:spPr>
      </p:sp>
      <p:sp>
        <p:nvSpPr>
          <p:cNvPr id="9" name="Text 6"/>
          <p:cNvSpPr txBox="1"/>
          <p:nvPr/>
        </p:nvSpPr>
        <p:spPr>
          <a:xfrm>
            <a:off x="6675120" y="1325880"/>
            <a:ext cx="4846320" cy="365760"/>
          </a:xfrm>
          <a:prstGeom prst="rect">
            <a:avLst/>
          </a:prstGeom>
          <a:noFill/>
          <a:ln/>
        </p:spPr>
        <p:txBody>
          <a:bodyPr wrap="square" lIns="0" tIns="0" rIns="0" bIns="0" rtlCol="0" anchor="t"/>
          <a:lstStyle/>
          <a:p>
            <a:pPr indent="0" marL="0">
              <a:buNone/>
            </a:pPr>
            <a:r>
              <a:rPr lang="en-US" sz="1800" b="1" dirty="0">
                <a:solidFill>
                  <a:srgbClr val="0E7C86"/>
                </a:solidFill>
                <a:latin typeface="Cambria" pitchFamily="34" charset="0"/>
                <a:ea typeface="Cambria" pitchFamily="34" charset="-122"/>
                <a:cs typeface="Cambria" pitchFamily="34" charset="-120"/>
              </a:rPr>
              <a:t>Proposed solution: ReturnWise</a:t>
            </a:r>
            <a:endParaRPr lang="en-US" sz="1800" dirty="0"/>
          </a:p>
        </p:txBody>
      </p:sp>
      <p:sp>
        <p:nvSpPr>
          <p:cNvPr id="10" name="Text 7"/>
          <p:cNvSpPr txBox="1"/>
          <p:nvPr/>
        </p:nvSpPr>
        <p:spPr>
          <a:xfrm>
            <a:off x="6675120" y="1920240"/>
            <a:ext cx="4846320" cy="4297680"/>
          </a:xfrm>
          <a:prstGeom prst="rect">
            <a:avLst/>
          </a:prstGeom>
          <a:noFill/>
          <a:ln/>
        </p:spPr>
        <p:txBody>
          <a:bodyPr wrap="square" lIns="0" tIns="0" rIns="0" bIns="0" rtlCol="0" anchor="t"/>
          <a:lstStyle/>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Five specialised agents run in a fixed order; each output is the next agent's input</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Same rules applied every time, so the same case gives the same answer</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Refund amount is read from the order record, never typed</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 Critic agent re-checks the decision with 8 independent checks and can force one correction</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Unclear cases go to manual review instead of being guessed</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Every step, input, output and verdict is stored for audit</a:t>
            </a:r>
            <a:endParaRPr lang="en-US" sz="17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Solution overview: what ReturnWise does and what it deliberately does not</a:t>
            </a:r>
            <a:endParaRPr lang="en-US" sz="2600" dirty="0"/>
          </a:p>
        </p:txBody>
      </p:sp>
      <p:sp>
        <p:nvSpPr>
          <p:cNvPr id="4" name="Shape 1"/>
          <p:cNvSpPr/>
          <p:nvPr/>
        </p:nvSpPr>
        <p:spPr>
          <a:xfrm>
            <a:off x="457200" y="1188720"/>
            <a:ext cx="2697480" cy="1417320"/>
          </a:xfrm>
          <a:prstGeom prst="rect">
            <a:avLst/>
          </a:prstGeom>
          <a:solidFill>
            <a:srgbClr val="0B1F3A"/>
          </a:solidFill>
          <a:ln w="9525">
            <a:solidFill>
              <a:srgbClr val="D5DDE5"/>
            </a:solidFill>
            <a:prstDash val="solid"/>
          </a:ln>
        </p:spPr>
      </p:sp>
      <p:sp>
        <p:nvSpPr>
          <p:cNvPr id="5" name="Text 2"/>
          <p:cNvSpPr txBox="1"/>
          <p:nvPr/>
        </p:nvSpPr>
        <p:spPr>
          <a:xfrm>
            <a:off x="457200" y="1280160"/>
            <a:ext cx="2697480" cy="777240"/>
          </a:xfrm>
          <a:prstGeom prst="rect">
            <a:avLst/>
          </a:prstGeom>
          <a:noFill/>
          <a:ln/>
        </p:spPr>
        <p:txBody>
          <a:bodyPr wrap="square" lIns="0" tIns="0" rIns="0" bIns="0" rtlCol="0" anchor="t"/>
          <a:lstStyle/>
          <a:p>
            <a:pPr algn="ctr" indent="0" marL="0">
              <a:buNone/>
            </a:pPr>
            <a:r>
              <a:rPr lang="en-US" sz="4800" b="1" dirty="0">
                <a:solidFill>
                  <a:srgbClr val="FFFFFF"/>
                </a:solidFill>
                <a:latin typeface="Cambria" pitchFamily="34" charset="0"/>
                <a:ea typeface="Cambria" pitchFamily="34" charset="-122"/>
                <a:cs typeface="Cambria" pitchFamily="34" charset="-120"/>
              </a:rPr>
              <a:t>5</a:t>
            </a:r>
            <a:endParaRPr lang="en-US" sz="4800" dirty="0"/>
          </a:p>
        </p:txBody>
      </p:sp>
      <p:sp>
        <p:nvSpPr>
          <p:cNvPr id="6" name="Text 3"/>
          <p:cNvSpPr txBox="1"/>
          <p:nvPr/>
        </p:nvSpPr>
        <p:spPr>
          <a:xfrm>
            <a:off x="457200" y="2103120"/>
            <a:ext cx="2697480" cy="365760"/>
          </a:xfrm>
          <a:prstGeom prst="rect">
            <a:avLst/>
          </a:prstGeom>
          <a:noFill/>
          <a:ln/>
        </p:spPr>
        <p:txBody>
          <a:bodyPr wrap="square" lIns="0" tIns="0" rIns="0" bIns="0" rtlCol="0" anchor="t"/>
          <a:lstStyle/>
          <a:p>
            <a:pPr algn="ctr" indent="0" marL="0">
              <a:buNone/>
            </a:pPr>
            <a:r>
              <a:rPr lang="en-US" sz="1400" dirty="0">
                <a:solidFill>
                  <a:srgbClr val="CFE8EA"/>
                </a:solidFill>
                <a:latin typeface="Calibri" pitchFamily="34" charset="0"/>
                <a:ea typeface="Calibri" pitchFamily="34" charset="-122"/>
                <a:cs typeface="Calibri" pitchFamily="34" charset="-120"/>
              </a:rPr>
              <a:t>specialised agents</a:t>
            </a:r>
            <a:endParaRPr lang="en-US" sz="1400" dirty="0"/>
          </a:p>
        </p:txBody>
      </p:sp>
      <p:sp>
        <p:nvSpPr>
          <p:cNvPr id="7" name="Shape 4"/>
          <p:cNvSpPr/>
          <p:nvPr/>
        </p:nvSpPr>
        <p:spPr>
          <a:xfrm>
            <a:off x="3291840" y="1188720"/>
            <a:ext cx="2697480" cy="1417320"/>
          </a:xfrm>
          <a:prstGeom prst="rect">
            <a:avLst/>
          </a:prstGeom>
          <a:solidFill>
            <a:srgbClr val="0B1F3A"/>
          </a:solidFill>
          <a:ln w="9525">
            <a:solidFill>
              <a:srgbClr val="D5DDE5"/>
            </a:solidFill>
            <a:prstDash val="solid"/>
          </a:ln>
        </p:spPr>
      </p:sp>
      <p:sp>
        <p:nvSpPr>
          <p:cNvPr id="8" name="Text 5"/>
          <p:cNvSpPr txBox="1"/>
          <p:nvPr/>
        </p:nvSpPr>
        <p:spPr>
          <a:xfrm>
            <a:off x="3291840" y="1280160"/>
            <a:ext cx="2697480" cy="777240"/>
          </a:xfrm>
          <a:prstGeom prst="rect">
            <a:avLst/>
          </a:prstGeom>
          <a:noFill/>
          <a:ln/>
        </p:spPr>
        <p:txBody>
          <a:bodyPr wrap="square" lIns="0" tIns="0" rIns="0" bIns="0" rtlCol="0" anchor="t"/>
          <a:lstStyle/>
          <a:p>
            <a:pPr algn="ctr" indent="0" marL="0">
              <a:buNone/>
            </a:pPr>
            <a:r>
              <a:rPr lang="en-US" sz="4800" b="1" dirty="0">
                <a:solidFill>
                  <a:srgbClr val="FFFFFF"/>
                </a:solidFill>
                <a:latin typeface="Cambria" pitchFamily="34" charset="0"/>
                <a:ea typeface="Cambria" pitchFamily="34" charset="-122"/>
                <a:cs typeface="Cambria" pitchFamily="34" charset="-120"/>
              </a:rPr>
              <a:t>8</a:t>
            </a:r>
            <a:endParaRPr lang="en-US" sz="4800" dirty="0"/>
          </a:p>
        </p:txBody>
      </p:sp>
      <p:sp>
        <p:nvSpPr>
          <p:cNvPr id="9" name="Text 6"/>
          <p:cNvSpPr txBox="1"/>
          <p:nvPr/>
        </p:nvSpPr>
        <p:spPr>
          <a:xfrm>
            <a:off x="3291840" y="2103120"/>
            <a:ext cx="2697480" cy="365760"/>
          </a:xfrm>
          <a:prstGeom prst="rect">
            <a:avLst/>
          </a:prstGeom>
          <a:noFill/>
          <a:ln/>
        </p:spPr>
        <p:txBody>
          <a:bodyPr wrap="square" lIns="0" tIns="0" rIns="0" bIns="0" rtlCol="0" anchor="t"/>
          <a:lstStyle/>
          <a:p>
            <a:pPr algn="ctr" indent="0" marL="0">
              <a:buNone/>
            </a:pPr>
            <a:r>
              <a:rPr lang="en-US" sz="1400" dirty="0">
                <a:solidFill>
                  <a:srgbClr val="CFE8EA"/>
                </a:solidFill>
                <a:latin typeface="Calibri" pitchFamily="34" charset="0"/>
                <a:ea typeface="Calibri" pitchFamily="34" charset="-122"/>
                <a:cs typeface="Calibri" pitchFamily="34" charset="-120"/>
              </a:rPr>
              <a:t>independent Critic checks</a:t>
            </a:r>
            <a:endParaRPr lang="en-US" sz="1400" dirty="0"/>
          </a:p>
        </p:txBody>
      </p:sp>
      <p:sp>
        <p:nvSpPr>
          <p:cNvPr id="10" name="Shape 7"/>
          <p:cNvSpPr/>
          <p:nvPr/>
        </p:nvSpPr>
        <p:spPr>
          <a:xfrm>
            <a:off x="6126480" y="1188720"/>
            <a:ext cx="2697480" cy="1417320"/>
          </a:xfrm>
          <a:prstGeom prst="rect">
            <a:avLst/>
          </a:prstGeom>
          <a:solidFill>
            <a:srgbClr val="0B1F3A"/>
          </a:solidFill>
          <a:ln w="9525">
            <a:solidFill>
              <a:srgbClr val="D5DDE5"/>
            </a:solidFill>
            <a:prstDash val="solid"/>
          </a:ln>
        </p:spPr>
      </p:sp>
      <p:sp>
        <p:nvSpPr>
          <p:cNvPr id="11" name="Text 8"/>
          <p:cNvSpPr txBox="1"/>
          <p:nvPr/>
        </p:nvSpPr>
        <p:spPr>
          <a:xfrm>
            <a:off x="6126480" y="1280160"/>
            <a:ext cx="2697480" cy="777240"/>
          </a:xfrm>
          <a:prstGeom prst="rect">
            <a:avLst/>
          </a:prstGeom>
          <a:noFill/>
          <a:ln/>
        </p:spPr>
        <p:txBody>
          <a:bodyPr wrap="square" lIns="0" tIns="0" rIns="0" bIns="0" rtlCol="0" anchor="t"/>
          <a:lstStyle/>
          <a:p>
            <a:pPr algn="ctr" indent="0" marL="0">
              <a:buNone/>
            </a:pPr>
            <a:r>
              <a:rPr lang="en-US" sz="4800" b="1" dirty="0">
                <a:solidFill>
                  <a:srgbClr val="FFFFFF"/>
                </a:solidFill>
                <a:latin typeface="Cambria" pitchFamily="34" charset="0"/>
                <a:ea typeface="Cambria" pitchFamily="34" charset="-122"/>
                <a:cs typeface="Cambria" pitchFamily="34" charset="-120"/>
              </a:rPr>
              <a:t>1</a:t>
            </a:r>
            <a:endParaRPr lang="en-US" sz="4800" dirty="0"/>
          </a:p>
        </p:txBody>
      </p:sp>
      <p:sp>
        <p:nvSpPr>
          <p:cNvPr id="12" name="Text 9"/>
          <p:cNvSpPr txBox="1"/>
          <p:nvPr/>
        </p:nvSpPr>
        <p:spPr>
          <a:xfrm>
            <a:off x="6126480" y="2103120"/>
            <a:ext cx="2697480" cy="365760"/>
          </a:xfrm>
          <a:prstGeom prst="rect">
            <a:avLst/>
          </a:prstGeom>
          <a:noFill/>
          <a:ln/>
        </p:spPr>
        <p:txBody>
          <a:bodyPr wrap="square" lIns="0" tIns="0" rIns="0" bIns="0" rtlCol="0" anchor="t"/>
          <a:lstStyle/>
          <a:p>
            <a:pPr algn="ctr" indent="0" marL="0">
              <a:buNone/>
            </a:pPr>
            <a:r>
              <a:rPr lang="en-US" sz="1400" dirty="0">
                <a:solidFill>
                  <a:srgbClr val="CFE8EA"/>
                </a:solidFill>
                <a:latin typeface="Calibri" pitchFamily="34" charset="0"/>
                <a:ea typeface="Calibri" pitchFamily="34" charset="-122"/>
                <a:cs typeface="Calibri" pitchFamily="34" charset="-120"/>
              </a:rPr>
              <a:t>bounded correction loop</a:t>
            </a:r>
            <a:endParaRPr lang="en-US" sz="1400" dirty="0"/>
          </a:p>
        </p:txBody>
      </p:sp>
      <p:sp>
        <p:nvSpPr>
          <p:cNvPr id="13" name="Shape 10"/>
          <p:cNvSpPr/>
          <p:nvPr/>
        </p:nvSpPr>
        <p:spPr>
          <a:xfrm>
            <a:off x="8961120" y="1188720"/>
            <a:ext cx="2697480" cy="1417320"/>
          </a:xfrm>
          <a:prstGeom prst="rect">
            <a:avLst/>
          </a:prstGeom>
          <a:solidFill>
            <a:srgbClr val="0B1F3A"/>
          </a:solidFill>
          <a:ln w="9525">
            <a:solidFill>
              <a:srgbClr val="D5DDE5"/>
            </a:solidFill>
            <a:prstDash val="solid"/>
          </a:ln>
        </p:spPr>
      </p:sp>
      <p:sp>
        <p:nvSpPr>
          <p:cNvPr id="14" name="Text 11"/>
          <p:cNvSpPr txBox="1"/>
          <p:nvPr/>
        </p:nvSpPr>
        <p:spPr>
          <a:xfrm>
            <a:off x="8961120" y="1280160"/>
            <a:ext cx="2697480" cy="777240"/>
          </a:xfrm>
          <a:prstGeom prst="rect">
            <a:avLst/>
          </a:prstGeom>
          <a:noFill/>
          <a:ln/>
        </p:spPr>
        <p:txBody>
          <a:bodyPr wrap="square" lIns="0" tIns="0" rIns="0" bIns="0" rtlCol="0" anchor="t"/>
          <a:lstStyle/>
          <a:p>
            <a:pPr algn="ctr" indent="0" marL="0">
              <a:buNone/>
            </a:pPr>
            <a:r>
              <a:rPr lang="en-US" sz="4800" b="1" dirty="0">
                <a:solidFill>
                  <a:srgbClr val="FFFFFF"/>
                </a:solidFill>
                <a:latin typeface="Cambria" pitchFamily="34" charset="0"/>
                <a:ea typeface="Cambria" pitchFamily="34" charset="-122"/>
                <a:cs typeface="Cambria" pitchFamily="34" charset="-120"/>
              </a:rPr>
              <a:t>12</a:t>
            </a:r>
            <a:endParaRPr lang="en-US" sz="4800" dirty="0"/>
          </a:p>
        </p:txBody>
      </p:sp>
      <p:sp>
        <p:nvSpPr>
          <p:cNvPr id="15" name="Text 12"/>
          <p:cNvSpPr txBox="1"/>
          <p:nvPr/>
        </p:nvSpPr>
        <p:spPr>
          <a:xfrm>
            <a:off x="8961120" y="2103120"/>
            <a:ext cx="2697480" cy="365760"/>
          </a:xfrm>
          <a:prstGeom prst="rect">
            <a:avLst/>
          </a:prstGeom>
          <a:noFill/>
          <a:ln/>
        </p:spPr>
        <p:txBody>
          <a:bodyPr wrap="square" lIns="0" tIns="0" rIns="0" bIns="0" rtlCol="0" anchor="t"/>
          <a:lstStyle/>
          <a:p>
            <a:pPr algn="ctr" indent="0" marL="0">
              <a:buNone/>
            </a:pPr>
            <a:r>
              <a:rPr lang="en-US" sz="1400" dirty="0">
                <a:solidFill>
                  <a:srgbClr val="CFE8EA"/>
                </a:solidFill>
                <a:latin typeface="Calibri" pitchFamily="34" charset="0"/>
                <a:ea typeface="Calibri" pitchFamily="34" charset="-122"/>
                <a:cs typeface="Calibri" pitchFamily="34" charset="-120"/>
              </a:rPr>
              <a:t>demo scenarios, all passing</a:t>
            </a:r>
            <a:endParaRPr lang="en-US" sz="1400" dirty="0"/>
          </a:p>
        </p:txBody>
      </p:sp>
      <p:sp>
        <p:nvSpPr>
          <p:cNvPr id="16" name="Shape 13"/>
          <p:cNvSpPr/>
          <p:nvPr/>
        </p:nvSpPr>
        <p:spPr>
          <a:xfrm>
            <a:off x="457200" y="2880360"/>
            <a:ext cx="5532120" cy="3337560"/>
          </a:xfrm>
          <a:prstGeom prst="rect">
            <a:avLst/>
          </a:prstGeom>
          <a:solidFill>
            <a:srgbClr val="E8F3F4"/>
          </a:solidFill>
          <a:ln w="9525">
            <a:solidFill>
              <a:srgbClr val="D5DDE5"/>
            </a:solidFill>
            <a:prstDash val="solid"/>
          </a:ln>
        </p:spPr>
      </p:sp>
      <p:sp>
        <p:nvSpPr>
          <p:cNvPr id="17" name="Text 14"/>
          <p:cNvSpPr txBox="1"/>
          <p:nvPr/>
        </p:nvSpPr>
        <p:spPr>
          <a:xfrm>
            <a:off x="685800" y="3017520"/>
            <a:ext cx="5029200" cy="365760"/>
          </a:xfrm>
          <a:prstGeom prst="rect">
            <a:avLst/>
          </a:prstGeom>
          <a:noFill/>
          <a:ln/>
        </p:spPr>
        <p:txBody>
          <a:bodyPr wrap="square" lIns="0" tIns="0" rIns="0" bIns="0" rtlCol="0" anchor="t"/>
          <a:lstStyle/>
          <a:p>
            <a:pPr indent="0" marL="0">
              <a:buNone/>
            </a:pPr>
            <a:r>
              <a:rPr lang="en-US" sz="1700" b="1" dirty="0">
                <a:solidFill>
                  <a:srgbClr val="0E7C86"/>
                </a:solidFill>
                <a:latin typeface="Cambria" pitchFamily="34" charset="0"/>
                <a:ea typeface="Cambria" pitchFamily="34" charset="-122"/>
                <a:cs typeface="Cambria" pitchFamily="34" charset="-120"/>
              </a:rPr>
              <a:t>What it does</a:t>
            </a:r>
            <a:endParaRPr lang="en-US" sz="1700" dirty="0"/>
          </a:p>
        </p:txBody>
      </p:sp>
      <p:sp>
        <p:nvSpPr>
          <p:cNvPr id="18" name="Text 15"/>
          <p:cNvSpPr txBox="1"/>
          <p:nvPr/>
        </p:nvSpPr>
        <p:spPr>
          <a:xfrm>
            <a:off x="685800" y="3520440"/>
            <a:ext cx="5120640" cy="2651760"/>
          </a:xfrm>
          <a:prstGeom prst="rect">
            <a:avLst/>
          </a:prstGeom>
          <a:noFill/>
          <a:ln/>
        </p:spPr>
        <p:txBody>
          <a:bodyPr wrap="square" lIns="0" tIns="0" rIns="0" bIns="0" rtlCol="0" anchor="t"/>
          <a:lstStyle/>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Recommends refund, replacement, rejection or manual review</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Shows each agent's input, output and hand-off in the UI</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Detects and corrects a wrong amount or action</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Saves the whole run in one database transaction</a:t>
            </a:r>
            <a:endParaRPr lang="en-US" sz="1700" dirty="0"/>
          </a:p>
        </p:txBody>
      </p:sp>
      <p:sp>
        <p:nvSpPr>
          <p:cNvPr id="19" name="Shape 16"/>
          <p:cNvSpPr/>
          <p:nvPr/>
        </p:nvSpPr>
        <p:spPr>
          <a:xfrm>
            <a:off x="6172200" y="2880360"/>
            <a:ext cx="5532120" cy="3337560"/>
          </a:xfrm>
          <a:prstGeom prst="rect">
            <a:avLst/>
          </a:prstGeom>
          <a:solidFill>
            <a:srgbClr val="F2F5F8"/>
          </a:solidFill>
          <a:ln w="9525">
            <a:solidFill>
              <a:srgbClr val="D5DDE5"/>
            </a:solidFill>
            <a:prstDash val="solid"/>
          </a:ln>
        </p:spPr>
      </p:sp>
      <p:sp>
        <p:nvSpPr>
          <p:cNvPr id="20" name="Text 17"/>
          <p:cNvSpPr txBox="1"/>
          <p:nvPr/>
        </p:nvSpPr>
        <p:spPr>
          <a:xfrm>
            <a:off x="6400800" y="3017520"/>
            <a:ext cx="5029200" cy="365760"/>
          </a:xfrm>
          <a:prstGeom prst="rect">
            <a:avLst/>
          </a:prstGeom>
          <a:noFill/>
          <a:ln/>
        </p:spPr>
        <p:txBody>
          <a:bodyPr wrap="square" lIns="0" tIns="0" rIns="0" bIns="0" rtlCol="0" anchor="t"/>
          <a:lstStyle/>
          <a:p>
            <a:pPr indent="0" marL="0">
              <a:buNone/>
            </a:pPr>
            <a:r>
              <a:rPr lang="en-US" sz="1700" b="1" dirty="0">
                <a:solidFill>
                  <a:srgbClr val="5B6B7C"/>
                </a:solidFill>
                <a:latin typeface="Cambria" pitchFamily="34" charset="0"/>
                <a:ea typeface="Cambria" pitchFamily="34" charset="-122"/>
                <a:cs typeface="Cambria" pitchFamily="34" charset="-120"/>
              </a:rPr>
              <a:t>What it deliberately does not do</a:t>
            </a:r>
            <a:endParaRPr lang="en-US" sz="1700" dirty="0"/>
          </a:p>
        </p:txBody>
      </p:sp>
      <p:sp>
        <p:nvSpPr>
          <p:cNvPr id="21" name="Text 18"/>
          <p:cNvSpPr txBox="1"/>
          <p:nvPr/>
        </p:nvSpPr>
        <p:spPr>
          <a:xfrm>
            <a:off x="6400800" y="3520440"/>
            <a:ext cx="5120640" cy="2651760"/>
          </a:xfrm>
          <a:prstGeom prst="rect">
            <a:avLst/>
          </a:prstGeom>
          <a:noFill/>
          <a:ln/>
        </p:spPr>
        <p:txBody>
          <a:bodyPr wrap="square" lIns="0" tIns="0" rIns="0" bIns="0" rtlCol="0" anchor="t"/>
          <a:lstStyle/>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Move money: it never claims an order was refunded</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Use an LLM or API key: rules are plain Python</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Guess on missing or inconsistent data: it escalates</a:t>
            </a:r>
            <a:endParaRPr lang="en-US" sz="1700" dirty="0"/>
          </a:p>
          <a:p>
            <a:pPr marL="203200" indent="-2032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Use real customer data: everything is synthetic</a:t>
            </a:r>
            <a:endParaRPr lang="en-US" sz="17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Agent roles and responsibilities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457200"/>
                <a:gridCol w="2011680"/>
                <a:gridCol w="3749040"/>
                <a:gridCol w="1737360"/>
                <a:gridCol w="329184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Agent (role)</a:t>
                      </a:r>
                      <a:endParaRPr lang="en-US" sz="130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Responsibility</a:t>
                      </a:r>
                      <a:endParaRPr lang="en-US" sz="130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Reads</a:t>
                      </a:r>
                      <a:endParaRPr lang="en-US" sz="130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Produces</a:t>
                      </a:r>
                      <a:endParaRPr lang="en-US" sz="130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A"/>
                    </a:solidFill>
                  </a:tcPr>
                </a:tc>
              </a:tr>
              <a:tr h="868680">
                <a:tc>
                  <a:txBody>
                    <a:bodyPr/>
                    <a:lstStyle/>
                    <a:p>
                      <a:pPr algn="ctr" indent="0" marL="0">
                        <a:buNone/>
                      </a:pPr>
                      <a:r>
                        <a:rPr lang="en-US" sz="1250" b="1" dirty="0">
                          <a:solidFill>
                            <a:srgbClr val="0E7C86"/>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430"/>
                          </a:solidFill>
                          <a:latin typeface="Calibri" pitchFamily="34" charset="0"/>
                          <a:ea typeface="Calibri" pitchFamily="34" charset="-122"/>
                          <a:cs typeface="Calibri" pitchFamily="34" charset="-120"/>
                        </a:rPr>
                        <a:t>Intake and Planning</a:t>
                      </a:r>
                      <a:endParaRPr lang="en-US" sz="1250" dirty="0">
                        <a:latin typeface="Calibri" charset="0"/>
                        <a:ea typeface="Calibri" charset="0"/>
                        <a:cs typeface="Calibri" charset="0"/>
                      </a:endParaRPr>
                    </a:p>
                    <a:p>
                      <a:pPr algn="l" indent="0" marL="0">
                        <a:buNone/>
                      </a:pPr>
                      <a:r>
                        <a:rPr lang="en-US" sz="1250" b="1" dirty="0">
                          <a:solidFill>
                            <a:srgbClr val="1B2430"/>
                          </a:solidFill>
                          <a:latin typeface="Calibri" pitchFamily="34" charset="0"/>
                          <a:ea typeface="Calibri" pitchFamily="34" charset="-122"/>
                          <a:cs typeface="Calibri" pitchFamily="34" charset="-120"/>
                        </a:rPr>
                        <a:t>(Planner)</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Validates the order ID, normalises the reason, flags risky words in the description, builds the task plan</a:t>
                      </a:r>
                      <a:endParaRPr lang="en-US" sz="11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Form input</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order_id, reason, description_flags, task_plan</a:t>
                      </a:r>
                      <a:endParaRPr lang="en-US" sz="11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r h="868680">
                <a:tc>
                  <a:txBody>
                    <a:bodyPr/>
                    <a:lstStyle/>
                    <a:p>
                      <a:pPr algn="ctr" indent="0" marL="0">
                        <a:buNone/>
                      </a:pPr>
                      <a:r>
                        <a:rPr lang="en-US" sz="1250" b="1" dirty="0">
                          <a:solidFill>
                            <a:srgbClr val="0E7C86"/>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250" b="1" dirty="0">
                          <a:solidFill>
                            <a:srgbClr val="1B2430"/>
                          </a:solidFill>
                          <a:latin typeface="Calibri" pitchFamily="34" charset="0"/>
                          <a:ea typeface="Calibri" pitchFamily="34" charset="-122"/>
                          <a:cs typeface="Calibri" pitchFamily="34" charset="-120"/>
                        </a:rPr>
                        <a:t>Order and Policy Research</a:t>
                      </a:r>
                      <a:endParaRPr lang="en-US" sz="1250" dirty="0">
                        <a:latin typeface="Calibri" charset="0"/>
                        <a:ea typeface="Calibri" charset="0"/>
                        <a:cs typeface="Calibri" charset="0"/>
                      </a:endParaRPr>
                    </a:p>
                    <a:p>
                      <a:pPr algn="l" indent="0" marL="0">
                        <a:buNone/>
                      </a:pPr>
                      <a:r>
                        <a:rPr lang="en-US" sz="1250" b="1" dirty="0">
                          <a:solidFill>
                            <a:srgbClr val="1B2430"/>
                          </a:solidFill>
                          <a:latin typeface="Calibri" pitchFamily="34" charset="0"/>
                          <a:ea typeface="Calibri" pitchFamily="34" charset="-122"/>
                          <a:cs typeface="Calibri" pitchFamily="34" charset="-120"/>
                        </a:rPr>
                        <a:t>(Research)</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Reads the order and product policy from SQLite, computes days since delivery and the window check, reports data inconsistencies</a:t>
                      </a:r>
                      <a:endParaRPr lang="en-US" sz="11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Intake output</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order, policy, days_since_delivery, within_window, data_issues, evidence</a:t>
                      </a:r>
                      <a:endParaRPr lang="en-US" sz="11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2F5F8"/>
                    </a:solidFill>
                  </a:tcPr>
                </a:tc>
              </a:tr>
              <a:tr h="868680">
                <a:tc>
                  <a:txBody>
                    <a:bodyPr/>
                    <a:lstStyle/>
                    <a:p>
                      <a:pPr algn="ctr" indent="0" marL="0">
                        <a:buNone/>
                      </a:pPr>
                      <a:r>
                        <a:rPr lang="en-US" sz="1250" b="1" dirty="0">
                          <a:solidFill>
                            <a:srgbClr val="0E7C86"/>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430"/>
                          </a:solidFill>
                          <a:latin typeface="Calibri" pitchFamily="34" charset="0"/>
                          <a:ea typeface="Calibri" pitchFamily="34" charset="-122"/>
                          <a:cs typeface="Calibri" pitchFamily="34" charset="-120"/>
                        </a:rPr>
                        <a:t>Eligibility Evaluation</a:t>
                      </a:r>
                      <a:endParaRPr lang="en-US" sz="1250" dirty="0">
                        <a:latin typeface="Calibri" charset="0"/>
                        <a:ea typeface="Calibri" charset="0"/>
                        <a:cs typeface="Calibri" charset="0"/>
                      </a:endParaRPr>
                    </a:p>
                    <a:p>
                      <a:pPr algn="l" indent="0" marL="0">
                        <a:buNone/>
                      </a:pPr>
                      <a:r>
                        <a:rPr lang="en-US" sz="1250" b="1" dirty="0">
                          <a:solidFill>
                            <a:srgbClr val="1B2430"/>
                          </a:solidFill>
                          <a:latin typeface="Calibri" pitchFamily="34" charset="0"/>
                          <a:ea typeface="Calibri" pitchFamily="34" charset="-122"/>
                          <a:cs typeface="Calibri" pitchFamily="34" charset="-120"/>
                        </a:rPr>
                        <a:t>(Executor)</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Applies four policy rules and guardrails (refund cap, missing dates); calculates the refund amount</a:t>
                      </a:r>
                      <a:endParaRPr lang="en-US" sz="11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Research output + reason</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eligibility, permitted_actions, refund_amount, rule_checks, failed_rules</a:t>
                      </a:r>
                      <a:endParaRPr lang="en-US" sz="11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r h="868680">
                <a:tc>
                  <a:txBody>
                    <a:bodyPr/>
                    <a:lstStyle/>
                    <a:p>
                      <a:pPr algn="ctr" indent="0" marL="0">
                        <a:buNone/>
                      </a:pPr>
                      <a:r>
                        <a:rPr lang="en-US" sz="1250" b="1" dirty="0">
                          <a:solidFill>
                            <a:srgbClr val="0E7C86"/>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250" b="1" dirty="0">
                          <a:solidFill>
                            <a:srgbClr val="1B2430"/>
                          </a:solidFill>
                          <a:latin typeface="Calibri" pitchFamily="34" charset="0"/>
                          <a:ea typeface="Calibri" pitchFamily="34" charset="-122"/>
                          <a:cs typeface="Calibri" pitchFamily="34" charset="-120"/>
                        </a:rPr>
                        <a:t>Resolution</a:t>
                      </a:r>
                      <a:endParaRPr lang="en-US" sz="1250" dirty="0">
                        <a:latin typeface="Calibri" charset="0"/>
                        <a:ea typeface="Calibri" charset="0"/>
                        <a:cs typeface="Calibri" charset="0"/>
                      </a:endParaRPr>
                    </a:p>
                    <a:p>
                      <a:pPr algn="l" indent="0" marL="0">
                        <a:buNone/>
                      </a:pPr>
                      <a:r>
                        <a:rPr lang="en-US" sz="1250" b="1" dirty="0">
                          <a:solidFill>
                            <a:srgbClr val="1B2430"/>
                          </a:solidFill>
                          <a:latin typeface="Calibri" pitchFamily="34" charset="0"/>
                          <a:ea typeface="Calibri" pitchFamily="34" charset="-122"/>
                          <a:cs typeface="Calibri" pitchFamily="34" charset="-120"/>
                        </a:rPr>
                        <a:t>(Business Automation)</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Chooses refund, replacement, reject or manual review from the permitted actions and explains why</a:t>
                      </a:r>
                      <a:endParaRPr lang="en-US" sz="11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Intake + Research + Eligibility</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recommended_action, refund_amount, policy_explanation, confidence</a:t>
                      </a:r>
                      <a:endParaRPr lang="en-US" sz="11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2F5F8"/>
                    </a:solidFill>
                  </a:tcPr>
                </a:tc>
              </a:tr>
              <a:tr h="868680">
                <a:tc>
                  <a:txBody>
                    <a:bodyPr/>
                    <a:lstStyle/>
                    <a:p>
                      <a:pPr algn="ctr" indent="0" marL="0">
                        <a:buNone/>
                      </a:pPr>
                      <a:r>
                        <a:rPr lang="en-US" sz="1250" b="1" dirty="0">
                          <a:solidFill>
                            <a:srgbClr val="0E7C86"/>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430"/>
                          </a:solidFill>
                          <a:latin typeface="Calibri" pitchFamily="34" charset="0"/>
                          <a:ea typeface="Calibri" pitchFamily="34" charset="-122"/>
                          <a:cs typeface="Calibri" pitchFamily="34" charset="-120"/>
                        </a:rPr>
                        <a:t>Validation</a:t>
                      </a:r>
                      <a:endParaRPr lang="en-US" sz="1250" dirty="0">
                        <a:latin typeface="Calibri" charset="0"/>
                        <a:ea typeface="Calibri" charset="0"/>
                        <a:cs typeface="Calibri" charset="0"/>
                      </a:endParaRPr>
                    </a:p>
                    <a:p>
                      <a:pPr algn="l" indent="0" marL="0">
                        <a:buNone/>
                      </a:pPr>
                      <a:r>
                        <a:rPr lang="en-US" sz="1250" b="1" dirty="0">
                          <a:solidFill>
                            <a:srgbClr val="1B2430"/>
                          </a:solidFill>
                          <a:latin typeface="Calibri" pitchFamily="34" charset="0"/>
                          <a:ea typeface="Calibri" pitchFamily="34" charset="-122"/>
                          <a:cs typeface="Calibri" pitchFamily="34" charset="-120"/>
                        </a:rPr>
                        <a:t>(Critic)</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Runs 8 independent checks; on failure proposes corrected values for one correction pass and revalidates</a:t>
                      </a:r>
                      <a:endParaRPr lang="en-US" sz="11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430"/>
                          </a:solidFill>
                          <a:latin typeface="Calibri" pitchFamily="34" charset="0"/>
                          <a:ea typeface="Calibri" pitchFamily="34" charset="-122"/>
                          <a:cs typeface="Calibri" pitchFamily="34" charset="-120"/>
                        </a:rPr>
                        <a:t>Resolution + Research + Eligibility</a:t>
                      </a:r>
                      <a:endParaRPr lang="en-US" sz="12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430"/>
                          </a:solidFill>
                          <a:latin typeface="Calibri" pitchFamily="34" charset="0"/>
                          <a:ea typeface="Calibri" pitchFamily="34" charset="-122"/>
                          <a:cs typeface="Calibri" pitchFamily="34" charset="-120"/>
                        </a:rPr>
                        <a:t>validation_status, detected_errors, corrected_action / amount</a:t>
                      </a:r>
                      <a:endParaRPr lang="en-US" sz="1150" dirty="0">
                        <a:latin typeface="Calibri" charset="0"/>
                        <a:ea typeface="Calibri" charset="0"/>
                        <a:cs typeface="Calibri" charset="0"/>
                      </a:endParaRPr>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6080760"/>
            <a:ext cx="11247120" cy="365760"/>
          </a:xfrm>
          <a:prstGeom prst="rect">
            <a:avLst/>
          </a:prstGeom>
          <a:noFill/>
          <a:ln/>
        </p:spPr>
        <p:txBody>
          <a:bodyPr wrap="square" lIns="0" tIns="0" rIns="0" bIns="0" rtlCol="0" anchor="t"/>
          <a:lstStyle/>
          <a:p>
            <a:pPr indent="0" marL="0">
              <a:buNone/>
            </a:pPr>
            <a:r>
              <a:rPr lang="en-US" sz="1400" i="1" dirty="0">
                <a:solidFill>
                  <a:srgbClr val="5B6B7C"/>
                </a:solidFill>
                <a:latin typeface="Calibri" pitchFamily="34" charset="0"/>
                <a:ea typeface="Calibri" pitchFamily="34" charset="-122"/>
                <a:cs typeface="Calibri" pitchFamily="34" charset="-120"/>
              </a:rPr>
              <a:t>The orchestrator (workflow.py) is the hub: it calls each agent, passes outputs along, stops early on an agent error and saves the run.</a:t>
            </a:r>
            <a:endParaRPr lang="en-US" sz="14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Orchestration workflow</a:t>
            </a:r>
            <a:endParaRPr lang="en-US" sz="2600" dirty="0"/>
          </a:p>
        </p:txBody>
      </p:sp>
      <p:sp>
        <p:nvSpPr>
          <p:cNvPr id="4" name="Shape 1"/>
          <p:cNvSpPr/>
          <p:nvPr/>
        </p:nvSpPr>
        <p:spPr>
          <a:xfrm>
            <a:off x="1286292" y="1060704"/>
            <a:ext cx="9616369" cy="5148072"/>
          </a:xfrm>
          <a:prstGeom prst="rect">
            <a:avLst/>
          </a:prstGeom>
          <a:solidFill>
            <a:srgbClr val="FFFFFF"/>
          </a:solidFill>
          <a:ln w="12700">
            <a:solidFill>
              <a:srgbClr val="9AA5B1"/>
            </a:solidFill>
            <a:prstDash val="solid"/>
          </a:ln>
        </p:spPr>
      </p:sp>
      <p:pic>
        <p:nvPicPr>
          <p:cNvPr id="5" name="Image 0" descr="Orchestration workflow diagram">    </p:cNvPr>
          <p:cNvPicPr>
            <a:picLocks noChangeAspect="1"/>
          </p:cNvPicPr>
          <p:nvPr/>
        </p:nvPicPr>
        <p:blipFill>
          <a:blip r:embed="rId1"/>
          <a:stretch>
            <a:fillRect/>
          </a:stretch>
        </p:blipFill>
        <p:spPr>
          <a:xfrm>
            <a:off x="1322868" y="1097280"/>
            <a:ext cx="9543217" cy="5074920"/>
          </a:xfrm>
          <a:prstGeom prst="rect">
            <a:avLst/>
          </a:prstGeom>
        </p:spPr>
      </p:pic>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System architecture: layers, agents, tools and data stores</a:t>
            </a:r>
            <a:endParaRPr lang="en-US" sz="2600" dirty="0"/>
          </a:p>
        </p:txBody>
      </p:sp>
      <p:sp>
        <p:nvSpPr>
          <p:cNvPr id="4" name="Shape 1"/>
          <p:cNvSpPr/>
          <p:nvPr/>
        </p:nvSpPr>
        <p:spPr>
          <a:xfrm>
            <a:off x="990836" y="1060704"/>
            <a:ext cx="10207280" cy="5148072"/>
          </a:xfrm>
          <a:prstGeom prst="rect">
            <a:avLst/>
          </a:prstGeom>
          <a:solidFill>
            <a:srgbClr val="FFFFFF"/>
          </a:solidFill>
          <a:ln w="12700">
            <a:solidFill>
              <a:srgbClr val="9AA5B1"/>
            </a:solidFill>
            <a:prstDash val="solid"/>
          </a:ln>
        </p:spPr>
      </p:sp>
      <p:pic>
        <p:nvPicPr>
          <p:cNvPr id="5" name="Image 0" descr="System architecture diagram">    </p:cNvPr>
          <p:cNvPicPr>
            <a:picLocks noChangeAspect="1"/>
          </p:cNvPicPr>
          <p:nvPr/>
        </p:nvPicPr>
        <p:blipFill>
          <a:blip r:embed="rId1"/>
          <a:stretch>
            <a:fillRect/>
          </a:stretch>
        </p:blipFill>
        <p:spPr>
          <a:xfrm>
            <a:off x="1027412" y="1097280"/>
            <a:ext cx="10134128" cy="5074920"/>
          </a:xfrm>
          <a:prstGeom prst="rect">
            <a:avLst/>
          </a:prstGeom>
        </p:spPr>
      </p:pic>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Agent collaboration: the data flowing from one agent to the next</a:t>
            </a:r>
            <a:endParaRPr lang="en-US" sz="2600" dirty="0"/>
          </a:p>
        </p:txBody>
      </p:sp>
      <p:sp>
        <p:nvSpPr>
          <p:cNvPr id="4" name="Shape 1"/>
          <p:cNvSpPr/>
          <p:nvPr/>
        </p:nvSpPr>
        <p:spPr>
          <a:xfrm>
            <a:off x="656376" y="1060704"/>
            <a:ext cx="10876200" cy="5148072"/>
          </a:xfrm>
          <a:prstGeom prst="rect">
            <a:avLst/>
          </a:prstGeom>
          <a:solidFill>
            <a:srgbClr val="FFFFFF"/>
          </a:solidFill>
          <a:ln w="12700">
            <a:solidFill>
              <a:srgbClr val="9AA5B1"/>
            </a:solidFill>
            <a:prstDash val="solid"/>
          </a:ln>
        </p:spPr>
      </p:sp>
      <p:pic>
        <p:nvPicPr>
          <p:cNvPr id="5" name="Image 0" descr="Agent collaboration data-flow diagram">    </p:cNvPr>
          <p:cNvPicPr>
            <a:picLocks noChangeAspect="1"/>
          </p:cNvPicPr>
          <p:nvPr/>
        </p:nvPicPr>
        <p:blipFill>
          <a:blip r:embed="rId1"/>
          <a:stretch>
            <a:fillRect/>
          </a:stretch>
        </p:blipFill>
        <p:spPr>
          <a:xfrm>
            <a:off x="692952" y="1097280"/>
            <a:ext cx="10803048" cy="5074920"/>
          </a:xfrm>
          <a:prstGeom prst="rect">
            <a:avLst/>
          </a:prstGeom>
        </p:spPr>
      </p:pic>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Decision-making: eligibility rules and outcome logic</a:t>
            </a:r>
            <a:endParaRPr lang="en-US" sz="2600" dirty="0"/>
          </a:p>
        </p:txBody>
      </p:sp>
      <p:sp>
        <p:nvSpPr>
          <p:cNvPr id="4" name="Shape 1"/>
          <p:cNvSpPr/>
          <p:nvPr/>
        </p:nvSpPr>
        <p:spPr>
          <a:xfrm>
            <a:off x="990836" y="1060704"/>
            <a:ext cx="10207280" cy="5148072"/>
          </a:xfrm>
          <a:prstGeom prst="rect">
            <a:avLst/>
          </a:prstGeom>
          <a:solidFill>
            <a:srgbClr val="FFFFFF"/>
          </a:solidFill>
          <a:ln w="12700">
            <a:solidFill>
              <a:srgbClr val="9AA5B1"/>
            </a:solidFill>
            <a:prstDash val="solid"/>
          </a:ln>
        </p:spPr>
      </p:sp>
      <p:pic>
        <p:nvPicPr>
          <p:cNvPr id="5" name="Image 0" descr="Eligibility decision flowchart">    </p:cNvPr>
          <p:cNvPicPr>
            <a:picLocks noChangeAspect="1"/>
          </p:cNvPicPr>
          <p:nvPr/>
        </p:nvPicPr>
        <p:blipFill>
          <a:blip r:embed="rId1"/>
          <a:stretch>
            <a:fillRect/>
          </a:stretch>
        </p:blipFill>
        <p:spPr>
          <a:xfrm>
            <a:off x="1027412" y="1097280"/>
            <a:ext cx="10134128" cy="5074920"/>
          </a:xfrm>
          <a:prstGeom prst="rect">
            <a:avLst/>
          </a:prstGeom>
        </p:spPr>
      </p:pic>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Decision-making: Critic validation and the bounded correction loop</a:t>
            </a:r>
            <a:endParaRPr lang="en-US" sz="2600" dirty="0"/>
          </a:p>
        </p:txBody>
      </p:sp>
      <p:sp>
        <p:nvSpPr>
          <p:cNvPr id="4" name="Shape 1"/>
          <p:cNvSpPr/>
          <p:nvPr/>
        </p:nvSpPr>
        <p:spPr>
          <a:xfrm>
            <a:off x="990836" y="1060704"/>
            <a:ext cx="10207280" cy="5148072"/>
          </a:xfrm>
          <a:prstGeom prst="rect">
            <a:avLst/>
          </a:prstGeom>
          <a:solidFill>
            <a:srgbClr val="FFFFFF"/>
          </a:solidFill>
          <a:ln w="12700">
            <a:solidFill>
              <a:srgbClr val="9AA5B1"/>
            </a:solidFill>
            <a:prstDash val="solid"/>
          </a:ln>
        </p:spPr>
      </p:sp>
      <p:pic>
        <p:nvPicPr>
          <p:cNvPr id="5" name="Image 0" descr="Validation and correction loop diagram">    </p:cNvPr>
          <p:cNvPicPr>
            <a:picLocks noChangeAspect="1"/>
          </p:cNvPicPr>
          <p:nvPr/>
        </p:nvPicPr>
        <p:blipFill>
          <a:blip r:embed="rId1"/>
          <a:stretch>
            <a:fillRect/>
          </a:stretch>
        </p:blipFill>
        <p:spPr>
          <a:xfrm>
            <a:off x="1027412" y="1097280"/>
            <a:ext cx="10134128" cy="5074920"/>
          </a:xfrm>
          <a:prstGeom prst="rect">
            <a:avLst/>
          </a:prstGeom>
        </p:spPr>
      </p:pic>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Data store: database schema (SQLite)</a:t>
            </a:r>
            <a:endParaRPr lang="en-US" sz="2600" dirty="0"/>
          </a:p>
        </p:txBody>
      </p:sp>
      <p:sp>
        <p:nvSpPr>
          <p:cNvPr id="4" name="Shape 1"/>
          <p:cNvSpPr/>
          <p:nvPr/>
        </p:nvSpPr>
        <p:spPr>
          <a:xfrm>
            <a:off x="990836" y="1060704"/>
            <a:ext cx="10207280" cy="5148072"/>
          </a:xfrm>
          <a:prstGeom prst="rect">
            <a:avLst/>
          </a:prstGeom>
          <a:solidFill>
            <a:srgbClr val="FFFFFF"/>
          </a:solidFill>
          <a:ln w="12700">
            <a:solidFill>
              <a:srgbClr val="9AA5B1"/>
            </a:solidFill>
            <a:prstDash val="solid"/>
          </a:ln>
        </p:spPr>
      </p:sp>
      <p:pic>
        <p:nvPicPr>
          <p:cNvPr id="5" name="Image 0" descr="Database ER diagram">    </p:cNvPr>
          <p:cNvPicPr>
            <a:picLocks noChangeAspect="1"/>
          </p:cNvPicPr>
          <p:nvPr/>
        </p:nvPicPr>
        <p:blipFill>
          <a:blip r:embed="rId1"/>
          <a:stretch>
            <a:fillRect/>
          </a:stretch>
        </p:blipFill>
        <p:spPr>
          <a:xfrm>
            <a:off x="1027412" y="1097280"/>
            <a:ext cx="10134128" cy="5074920"/>
          </a:xfrm>
          <a:prstGeom prst="rect">
            <a:avLst/>
          </a:prstGeom>
        </p:spPr>
      </p:pic>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Tools and technology stack</a:t>
            </a:r>
            <a:endParaRPr lang="en-US" sz="2600" dirty="0"/>
          </a:p>
        </p:txBody>
      </p:sp>
      <p:sp>
        <p:nvSpPr>
          <p:cNvPr id="4" name="Shape 1"/>
          <p:cNvSpPr/>
          <p:nvPr/>
        </p:nvSpPr>
        <p:spPr>
          <a:xfrm>
            <a:off x="457200" y="1234440"/>
            <a:ext cx="5577840" cy="1508760"/>
          </a:xfrm>
          <a:prstGeom prst="rect">
            <a:avLst/>
          </a:prstGeom>
          <a:solidFill>
            <a:srgbClr val="F2F5F8"/>
          </a:solidFill>
          <a:ln w="9525">
            <a:solidFill>
              <a:srgbClr val="D5DDE5"/>
            </a:solidFill>
            <a:prstDash val="solid"/>
          </a:ln>
        </p:spPr>
      </p:sp>
      <p:sp>
        <p:nvSpPr>
          <p:cNvPr id="5" name="Shape 2"/>
          <p:cNvSpPr/>
          <p:nvPr/>
        </p:nvSpPr>
        <p:spPr>
          <a:xfrm>
            <a:off x="640080" y="1417320"/>
            <a:ext cx="594360" cy="594360"/>
          </a:xfrm>
          <a:prstGeom prst="ellipse">
            <a:avLst/>
          </a:prstGeom>
          <a:solidFill>
            <a:srgbClr val="0E7C86"/>
          </a:solidFill>
          <a:ln w="12700">
            <a:solidFill>
              <a:srgbClr val="0E7C86"/>
            </a:solidFill>
            <a:prstDash val="solid"/>
          </a:ln>
        </p:spPr>
      </p:sp>
      <p:pic>
        <p:nvPicPr>
          <p:cNvPr id="6" name="Image 0" descr="flask icon">    </p:cNvPr>
          <p:cNvPicPr>
            <a:picLocks noChangeAspect="1"/>
          </p:cNvPicPr>
          <p:nvPr/>
        </p:nvPicPr>
        <p:blipFill>
          <a:blip r:embed="rId1"/>
          <a:stretch>
            <a:fillRect/>
          </a:stretch>
        </p:blipFill>
        <p:spPr>
          <a:xfrm>
            <a:off x="770839" y="1548079"/>
            <a:ext cx="332842" cy="332842"/>
          </a:xfrm>
          <a:prstGeom prst="rect">
            <a:avLst/>
          </a:prstGeom>
        </p:spPr>
      </p:pic>
      <p:sp>
        <p:nvSpPr>
          <p:cNvPr id="7" name="Text 3"/>
          <p:cNvSpPr txBox="1"/>
          <p:nvPr/>
        </p:nvSpPr>
        <p:spPr>
          <a:xfrm>
            <a:off x="1463040" y="1399032"/>
            <a:ext cx="4389120" cy="365760"/>
          </a:xfrm>
          <a:prstGeom prst="rect">
            <a:avLst/>
          </a:prstGeom>
          <a:noFill/>
          <a:ln/>
        </p:spPr>
        <p:txBody>
          <a:bodyPr wrap="square" lIns="0" tIns="0" rIns="0" bIns="0" rtlCol="0" anchor="t"/>
          <a:lstStyle/>
          <a:p>
            <a:pPr indent="0" marL="0">
              <a:buNone/>
            </a:pPr>
            <a:r>
              <a:rPr lang="en-US" sz="1700" b="1" dirty="0">
                <a:solidFill>
                  <a:srgbClr val="0B1F3A"/>
                </a:solidFill>
                <a:latin typeface="Cambria" pitchFamily="34" charset="0"/>
                <a:ea typeface="Cambria" pitchFamily="34" charset="-122"/>
                <a:cs typeface="Cambria" pitchFamily="34" charset="-120"/>
              </a:rPr>
              <a:t>Testing</a:t>
            </a:r>
            <a:endParaRPr lang="en-US" sz="1700" dirty="0"/>
          </a:p>
        </p:txBody>
      </p:sp>
      <p:sp>
        <p:nvSpPr>
          <p:cNvPr id="8" name="Text 4"/>
          <p:cNvSpPr txBox="1"/>
          <p:nvPr/>
        </p:nvSpPr>
        <p:spPr>
          <a:xfrm>
            <a:off x="1463040" y="1801368"/>
            <a:ext cx="4389120" cy="86868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pytest (206 backend tests), Streamlit AppTest, Playwright browser checks</a:t>
            </a:r>
            <a:endParaRPr lang="en-US" sz="1450" dirty="0"/>
          </a:p>
        </p:txBody>
      </p:sp>
      <p:sp>
        <p:nvSpPr>
          <p:cNvPr id="9" name="Shape 5"/>
          <p:cNvSpPr/>
          <p:nvPr/>
        </p:nvSpPr>
        <p:spPr>
          <a:xfrm>
            <a:off x="6126480" y="1234440"/>
            <a:ext cx="5577840" cy="1508760"/>
          </a:xfrm>
          <a:prstGeom prst="rect">
            <a:avLst/>
          </a:prstGeom>
          <a:solidFill>
            <a:srgbClr val="F2F5F8"/>
          </a:solidFill>
          <a:ln w="9525">
            <a:solidFill>
              <a:srgbClr val="D5DDE5"/>
            </a:solidFill>
            <a:prstDash val="solid"/>
          </a:ln>
        </p:spPr>
      </p:sp>
      <p:sp>
        <p:nvSpPr>
          <p:cNvPr id="10" name="Shape 6"/>
          <p:cNvSpPr/>
          <p:nvPr/>
        </p:nvSpPr>
        <p:spPr>
          <a:xfrm>
            <a:off x="6309360" y="1417320"/>
            <a:ext cx="594360" cy="594360"/>
          </a:xfrm>
          <a:prstGeom prst="ellipse">
            <a:avLst/>
          </a:prstGeom>
          <a:solidFill>
            <a:srgbClr val="0E7C86"/>
          </a:solidFill>
          <a:ln w="12700">
            <a:solidFill>
              <a:srgbClr val="0E7C86"/>
            </a:solidFill>
            <a:prstDash val="solid"/>
          </a:ln>
        </p:spPr>
      </p:sp>
      <p:pic>
        <p:nvPicPr>
          <p:cNvPr id="11" name="Image 1" descr="db icon">    </p:cNvPr>
          <p:cNvPicPr>
            <a:picLocks noChangeAspect="1"/>
          </p:cNvPicPr>
          <p:nvPr/>
        </p:nvPicPr>
        <p:blipFill>
          <a:blip r:embed="rId2"/>
          <a:stretch>
            <a:fillRect/>
          </a:stretch>
        </p:blipFill>
        <p:spPr>
          <a:xfrm>
            <a:off x="6440119" y="1548079"/>
            <a:ext cx="332842" cy="332842"/>
          </a:xfrm>
          <a:prstGeom prst="rect">
            <a:avLst/>
          </a:prstGeom>
        </p:spPr>
      </p:pic>
      <p:sp>
        <p:nvSpPr>
          <p:cNvPr id="12" name="Text 7"/>
          <p:cNvSpPr txBox="1"/>
          <p:nvPr/>
        </p:nvSpPr>
        <p:spPr>
          <a:xfrm>
            <a:off x="7132320" y="1399032"/>
            <a:ext cx="4389120" cy="365760"/>
          </a:xfrm>
          <a:prstGeom prst="rect">
            <a:avLst/>
          </a:prstGeom>
          <a:noFill/>
          <a:ln/>
        </p:spPr>
        <p:txBody>
          <a:bodyPr wrap="square" lIns="0" tIns="0" rIns="0" bIns="0" rtlCol="0" anchor="t"/>
          <a:lstStyle/>
          <a:p>
            <a:pPr indent="0" marL="0">
              <a:buNone/>
            </a:pPr>
            <a:r>
              <a:rPr lang="en-US" sz="1700" b="1" dirty="0">
                <a:solidFill>
                  <a:srgbClr val="0B1F3A"/>
                </a:solidFill>
                <a:latin typeface="Cambria" pitchFamily="34" charset="0"/>
                <a:ea typeface="Cambria" pitchFamily="34" charset="-122"/>
                <a:cs typeface="Cambria" pitchFamily="34" charset="-120"/>
              </a:rPr>
              <a:t>Data</a:t>
            </a:r>
            <a:endParaRPr lang="en-US" sz="1700" dirty="0"/>
          </a:p>
        </p:txBody>
      </p:sp>
      <p:sp>
        <p:nvSpPr>
          <p:cNvPr id="13" name="Text 8"/>
          <p:cNvSpPr txBox="1"/>
          <p:nvPr/>
        </p:nvSpPr>
        <p:spPr>
          <a:xfrm>
            <a:off x="7132320" y="1801368"/>
            <a:ext cx="4389120" cy="86868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SQLite with 20 synthetic orders, 8 product categories, store policies</a:t>
            </a:r>
            <a:endParaRPr lang="en-US" sz="1450" dirty="0"/>
          </a:p>
        </p:txBody>
      </p:sp>
      <p:sp>
        <p:nvSpPr>
          <p:cNvPr id="14" name="Shape 9"/>
          <p:cNvSpPr/>
          <p:nvPr/>
        </p:nvSpPr>
        <p:spPr>
          <a:xfrm>
            <a:off x="457200" y="2880360"/>
            <a:ext cx="5577840" cy="1508760"/>
          </a:xfrm>
          <a:prstGeom prst="rect">
            <a:avLst/>
          </a:prstGeom>
          <a:solidFill>
            <a:srgbClr val="F2F5F8"/>
          </a:solidFill>
          <a:ln w="9525">
            <a:solidFill>
              <a:srgbClr val="D5DDE5"/>
            </a:solidFill>
            <a:prstDash val="solid"/>
          </a:ln>
        </p:spPr>
      </p:sp>
      <p:sp>
        <p:nvSpPr>
          <p:cNvPr id="15" name="Shape 10"/>
          <p:cNvSpPr/>
          <p:nvPr/>
        </p:nvSpPr>
        <p:spPr>
          <a:xfrm>
            <a:off x="640080" y="3063240"/>
            <a:ext cx="594360" cy="594360"/>
          </a:xfrm>
          <a:prstGeom prst="ellipse">
            <a:avLst/>
          </a:prstGeom>
          <a:solidFill>
            <a:srgbClr val="0E7C86"/>
          </a:solidFill>
          <a:ln w="12700">
            <a:solidFill>
              <a:srgbClr val="0E7C86"/>
            </a:solidFill>
            <a:prstDash val="solid"/>
          </a:ln>
        </p:spPr>
      </p:sp>
      <p:pic>
        <p:nvPicPr>
          <p:cNvPr id="16" name="Image 2" descr="cog icon">    </p:cNvPr>
          <p:cNvPicPr>
            <a:picLocks noChangeAspect="1"/>
          </p:cNvPicPr>
          <p:nvPr/>
        </p:nvPicPr>
        <p:blipFill>
          <a:blip r:embed="rId3"/>
          <a:stretch>
            <a:fillRect/>
          </a:stretch>
        </p:blipFill>
        <p:spPr>
          <a:xfrm>
            <a:off x="770839" y="3193999"/>
            <a:ext cx="332842" cy="332842"/>
          </a:xfrm>
          <a:prstGeom prst="rect">
            <a:avLst/>
          </a:prstGeom>
        </p:spPr>
      </p:pic>
      <p:sp>
        <p:nvSpPr>
          <p:cNvPr id="17" name="Text 11"/>
          <p:cNvSpPr txBox="1"/>
          <p:nvPr/>
        </p:nvSpPr>
        <p:spPr>
          <a:xfrm>
            <a:off x="1463040" y="3044952"/>
            <a:ext cx="4389120" cy="365760"/>
          </a:xfrm>
          <a:prstGeom prst="rect">
            <a:avLst/>
          </a:prstGeom>
          <a:noFill/>
          <a:ln/>
        </p:spPr>
        <p:txBody>
          <a:bodyPr wrap="square" lIns="0" tIns="0" rIns="0" bIns="0" rtlCol="0" anchor="t"/>
          <a:lstStyle/>
          <a:p>
            <a:pPr indent="0" marL="0">
              <a:buNone/>
            </a:pPr>
            <a:r>
              <a:rPr lang="en-US" sz="1700" b="1" dirty="0">
                <a:solidFill>
                  <a:srgbClr val="0B1F3A"/>
                </a:solidFill>
                <a:latin typeface="Cambria" pitchFamily="34" charset="0"/>
                <a:ea typeface="Cambria" pitchFamily="34" charset="-122"/>
                <a:cs typeface="Cambria" pitchFamily="34" charset="-120"/>
              </a:rPr>
              <a:t>Agents and logic</a:t>
            </a:r>
            <a:endParaRPr lang="en-US" sz="1700" dirty="0"/>
          </a:p>
        </p:txBody>
      </p:sp>
      <p:sp>
        <p:nvSpPr>
          <p:cNvPr id="18" name="Text 12"/>
          <p:cNvSpPr txBox="1"/>
          <p:nvPr/>
        </p:nvSpPr>
        <p:spPr>
          <a:xfrm>
            <a:off x="1463040" y="3447288"/>
            <a:ext cx="4389120" cy="86868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Python 3 agent modules, policy engine, orchestrator (workflow.py)</a:t>
            </a:r>
            <a:endParaRPr lang="en-US" sz="1450" dirty="0"/>
          </a:p>
        </p:txBody>
      </p:sp>
      <p:sp>
        <p:nvSpPr>
          <p:cNvPr id="19" name="Shape 13"/>
          <p:cNvSpPr/>
          <p:nvPr/>
        </p:nvSpPr>
        <p:spPr>
          <a:xfrm>
            <a:off x="6126480" y="2880360"/>
            <a:ext cx="5577840" cy="1508760"/>
          </a:xfrm>
          <a:prstGeom prst="rect">
            <a:avLst/>
          </a:prstGeom>
          <a:solidFill>
            <a:srgbClr val="F2F5F8"/>
          </a:solidFill>
          <a:ln w="9525">
            <a:solidFill>
              <a:srgbClr val="D5DDE5"/>
            </a:solidFill>
            <a:prstDash val="solid"/>
          </a:ln>
        </p:spPr>
      </p:sp>
      <p:sp>
        <p:nvSpPr>
          <p:cNvPr id="20" name="Shape 14"/>
          <p:cNvSpPr/>
          <p:nvPr/>
        </p:nvSpPr>
        <p:spPr>
          <a:xfrm>
            <a:off x="6309360" y="3063240"/>
            <a:ext cx="594360" cy="594360"/>
          </a:xfrm>
          <a:prstGeom prst="ellipse">
            <a:avLst/>
          </a:prstGeom>
          <a:solidFill>
            <a:srgbClr val="0E7C86"/>
          </a:solidFill>
          <a:ln w="12700">
            <a:solidFill>
              <a:srgbClr val="0E7C86"/>
            </a:solidFill>
            <a:prstDash val="solid"/>
          </a:ln>
        </p:spPr>
      </p:sp>
      <p:pic>
        <p:nvPicPr>
          <p:cNvPr id="21" name="Image 3" descr="user icon">    </p:cNvPr>
          <p:cNvPicPr>
            <a:picLocks noChangeAspect="1"/>
          </p:cNvPicPr>
          <p:nvPr/>
        </p:nvPicPr>
        <p:blipFill>
          <a:blip r:embed="rId4"/>
          <a:stretch>
            <a:fillRect/>
          </a:stretch>
        </p:blipFill>
        <p:spPr>
          <a:xfrm>
            <a:off x="6440119" y="3193999"/>
            <a:ext cx="332842" cy="332842"/>
          </a:xfrm>
          <a:prstGeom prst="rect">
            <a:avLst/>
          </a:prstGeom>
        </p:spPr>
      </p:pic>
      <p:sp>
        <p:nvSpPr>
          <p:cNvPr id="22" name="Text 15"/>
          <p:cNvSpPr txBox="1"/>
          <p:nvPr/>
        </p:nvSpPr>
        <p:spPr>
          <a:xfrm>
            <a:off x="7132320" y="3044952"/>
            <a:ext cx="4389120" cy="365760"/>
          </a:xfrm>
          <a:prstGeom prst="rect">
            <a:avLst/>
          </a:prstGeom>
          <a:noFill/>
          <a:ln/>
        </p:spPr>
        <p:txBody>
          <a:bodyPr wrap="square" lIns="0" tIns="0" rIns="0" bIns="0" rtlCol="0" anchor="t"/>
          <a:lstStyle/>
          <a:p>
            <a:pPr indent="0" marL="0">
              <a:buNone/>
            </a:pPr>
            <a:r>
              <a:rPr lang="en-US" sz="1700" b="1" dirty="0">
                <a:solidFill>
                  <a:srgbClr val="0B1F3A"/>
                </a:solidFill>
                <a:latin typeface="Cambria" pitchFamily="34" charset="0"/>
                <a:ea typeface="Cambria" pitchFamily="34" charset="-122"/>
                <a:cs typeface="Cambria" pitchFamily="34" charset="-120"/>
              </a:rPr>
              <a:t>User interface</a:t>
            </a:r>
            <a:endParaRPr lang="en-US" sz="1700" dirty="0"/>
          </a:p>
        </p:txBody>
      </p:sp>
      <p:sp>
        <p:nvSpPr>
          <p:cNvPr id="23" name="Text 16"/>
          <p:cNvSpPr txBox="1"/>
          <p:nvPr/>
        </p:nvSpPr>
        <p:spPr>
          <a:xfrm>
            <a:off x="7132320" y="3447288"/>
            <a:ext cx="4389120" cy="86868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Streamlit 1.66 with six pages: Dashboard, New Return Request, Agent Workflow, Final Resolution, History, Demo and Testing</a:t>
            </a:r>
            <a:endParaRPr lang="en-US" sz="1450" dirty="0"/>
          </a:p>
        </p:txBody>
      </p:sp>
      <p:sp>
        <p:nvSpPr>
          <p:cNvPr id="24" name="Shape 17"/>
          <p:cNvSpPr/>
          <p:nvPr/>
        </p:nvSpPr>
        <p:spPr>
          <a:xfrm>
            <a:off x="457200" y="4526280"/>
            <a:ext cx="5577840" cy="1508760"/>
          </a:xfrm>
          <a:prstGeom prst="rect">
            <a:avLst/>
          </a:prstGeom>
          <a:solidFill>
            <a:srgbClr val="F2F5F8"/>
          </a:solidFill>
          <a:ln w="9525">
            <a:solidFill>
              <a:srgbClr val="D5DDE5"/>
            </a:solidFill>
            <a:prstDash val="solid"/>
          </a:ln>
        </p:spPr>
      </p:sp>
      <p:sp>
        <p:nvSpPr>
          <p:cNvPr id="25" name="Shape 18"/>
          <p:cNvSpPr/>
          <p:nvPr/>
        </p:nvSpPr>
        <p:spPr>
          <a:xfrm>
            <a:off x="640080" y="4709160"/>
            <a:ext cx="594360" cy="594360"/>
          </a:xfrm>
          <a:prstGeom prst="ellipse">
            <a:avLst/>
          </a:prstGeom>
          <a:solidFill>
            <a:srgbClr val="0E7C86"/>
          </a:solidFill>
          <a:ln w="12700">
            <a:solidFill>
              <a:srgbClr val="0E7C86"/>
            </a:solidFill>
            <a:prstDash val="solid"/>
          </a:ln>
        </p:spPr>
      </p:sp>
      <p:pic>
        <p:nvPicPr>
          <p:cNvPr id="26" name="Image 4" descr="rocket icon">    </p:cNvPr>
          <p:cNvPicPr>
            <a:picLocks noChangeAspect="1"/>
          </p:cNvPicPr>
          <p:nvPr/>
        </p:nvPicPr>
        <p:blipFill>
          <a:blip r:embed="rId5"/>
          <a:stretch>
            <a:fillRect/>
          </a:stretch>
        </p:blipFill>
        <p:spPr>
          <a:xfrm>
            <a:off x="770839" y="4839919"/>
            <a:ext cx="332842" cy="332842"/>
          </a:xfrm>
          <a:prstGeom prst="rect">
            <a:avLst/>
          </a:prstGeom>
        </p:spPr>
      </p:pic>
      <p:sp>
        <p:nvSpPr>
          <p:cNvPr id="27" name="Text 19"/>
          <p:cNvSpPr txBox="1"/>
          <p:nvPr/>
        </p:nvSpPr>
        <p:spPr>
          <a:xfrm>
            <a:off x="1463040" y="4690872"/>
            <a:ext cx="4389120" cy="365760"/>
          </a:xfrm>
          <a:prstGeom prst="rect">
            <a:avLst/>
          </a:prstGeom>
          <a:noFill/>
          <a:ln/>
        </p:spPr>
        <p:txBody>
          <a:bodyPr wrap="square" lIns="0" tIns="0" rIns="0" bIns="0" rtlCol="0" anchor="t"/>
          <a:lstStyle/>
          <a:p>
            <a:pPr indent="0" marL="0">
              <a:buNone/>
            </a:pPr>
            <a:r>
              <a:rPr lang="en-US" sz="1700" b="1" dirty="0">
                <a:solidFill>
                  <a:srgbClr val="0B1F3A"/>
                </a:solidFill>
                <a:latin typeface="Cambria" pitchFamily="34" charset="0"/>
                <a:ea typeface="Cambria" pitchFamily="34" charset="-122"/>
                <a:cs typeface="Cambria" pitchFamily="34" charset="-120"/>
              </a:rPr>
              <a:t>Optional web layer</a:t>
            </a:r>
            <a:endParaRPr lang="en-US" sz="1700" dirty="0"/>
          </a:p>
        </p:txBody>
      </p:sp>
      <p:sp>
        <p:nvSpPr>
          <p:cNvPr id="28" name="Text 20"/>
          <p:cNvSpPr txBox="1"/>
          <p:nvPr/>
        </p:nvSpPr>
        <p:spPr>
          <a:xfrm>
            <a:off x="1463040" y="5093208"/>
            <a:ext cx="4389120" cy="86868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FastAPI + React/TypeScript front end reusing the same Python backend (not required for the PoC)</a:t>
            </a:r>
            <a:endParaRPr lang="en-US" sz="1450" dirty="0"/>
          </a:p>
        </p:txBody>
      </p:sp>
      <p:sp>
        <p:nvSpPr>
          <p:cNvPr id="29" name="Shape 21"/>
          <p:cNvSpPr/>
          <p:nvPr/>
        </p:nvSpPr>
        <p:spPr>
          <a:xfrm>
            <a:off x="6126480" y="4526280"/>
            <a:ext cx="5577840" cy="1508760"/>
          </a:xfrm>
          <a:prstGeom prst="rect">
            <a:avLst/>
          </a:prstGeom>
          <a:solidFill>
            <a:srgbClr val="F2F5F8"/>
          </a:solidFill>
          <a:ln w="9525">
            <a:solidFill>
              <a:srgbClr val="D5DDE5"/>
            </a:solidFill>
            <a:prstDash val="solid"/>
          </a:ln>
        </p:spPr>
      </p:sp>
      <p:sp>
        <p:nvSpPr>
          <p:cNvPr id="30" name="Shape 22"/>
          <p:cNvSpPr/>
          <p:nvPr/>
        </p:nvSpPr>
        <p:spPr>
          <a:xfrm>
            <a:off x="6309360" y="4709160"/>
            <a:ext cx="594360" cy="594360"/>
          </a:xfrm>
          <a:prstGeom prst="ellipse">
            <a:avLst/>
          </a:prstGeom>
          <a:solidFill>
            <a:srgbClr val="0E7C86"/>
          </a:solidFill>
          <a:ln w="12700">
            <a:solidFill>
              <a:srgbClr val="0E7C86"/>
            </a:solidFill>
            <a:prstDash val="solid"/>
          </a:ln>
        </p:spPr>
      </p:sp>
      <p:pic>
        <p:nvPicPr>
          <p:cNvPr id="31" name="Image 5" descr="file icon">    </p:cNvPr>
          <p:cNvPicPr>
            <a:picLocks noChangeAspect="1"/>
          </p:cNvPicPr>
          <p:nvPr/>
        </p:nvPicPr>
        <p:blipFill>
          <a:blip r:embed="rId6"/>
          <a:stretch>
            <a:fillRect/>
          </a:stretch>
        </p:blipFill>
        <p:spPr>
          <a:xfrm>
            <a:off x="6440119" y="4839919"/>
            <a:ext cx="332842" cy="332842"/>
          </a:xfrm>
          <a:prstGeom prst="rect">
            <a:avLst/>
          </a:prstGeom>
        </p:spPr>
      </p:pic>
      <p:sp>
        <p:nvSpPr>
          <p:cNvPr id="32" name="Text 23"/>
          <p:cNvSpPr txBox="1"/>
          <p:nvPr/>
        </p:nvSpPr>
        <p:spPr>
          <a:xfrm>
            <a:off x="7132320" y="4690872"/>
            <a:ext cx="4389120" cy="365760"/>
          </a:xfrm>
          <a:prstGeom prst="rect">
            <a:avLst/>
          </a:prstGeom>
          <a:noFill/>
          <a:ln/>
        </p:spPr>
        <p:txBody>
          <a:bodyPr wrap="square" lIns="0" tIns="0" rIns="0" bIns="0" rtlCol="0" anchor="t"/>
          <a:lstStyle/>
          <a:p>
            <a:pPr indent="0" marL="0">
              <a:buNone/>
            </a:pPr>
            <a:r>
              <a:rPr lang="en-US" sz="1700" b="1" dirty="0">
                <a:solidFill>
                  <a:srgbClr val="0B1F3A"/>
                </a:solidFill>
                <a:latin typeface="Cambria" pitchFamily="34" charset="0"/>
                <a:ea typeface="Cambria" pitchFamily="34" charset="-122"/>
                <a:cs typeface="Cambria" pitchFamily="34" charset="-120"/>
              </a:rPr>
              <a:t>Diagrams</a:t>
            </a:r>
            <a:endParaRPr lang="en-US" sz="1700" dirty="0"/>
          </a:p>
        </p:txBody>
      </p:sp>
      <p:sp>
        <p:nvSpPr>
          <p:cNvPr id="33" name="Text 24"/>
          <p:cNvSpPr txBox="1"/>
          <p:nvPr/>
        </p:nvSpPr>
        <p:spPr>
          <a:xfrm>
            <a:off x="7132320" y="5093208"/>
            <a:ext cx="4389120" cy="86868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Editable draw.io files plus SVG and PNG, black and white, one coordinate set</a:t>
            </a:r>
            <a:endParaRPr lang="en-US" sz="145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Streamlit PoC: dashboard and new return request</a:t>
            </a:r>
            <a:endParaRPr lang="en-US" sz="2600" dirty="0"/>
          </a:p>
        </p:txBody>
      </p:sp>
      <p:sp>
        <p:nvSpPr>
          <p:cNvPr id="4" name="Shape 1"/>
          <p:cNvSpPr/>
          <p:nvPr/>
        </p:nvSpPr>
        <p:spPr>
          <a:xfrm>
            <a:off x="521208" y="1161288"/>
            <a:ext cx="4663125" cy="3666744"/>
          </a:xfrm>
          <a:prstGeom prst="rect">
            <a:avLst/>
          </a:prstGeom>
          <a:solidFill>
            <a:srgbClr val="FFFFFF"/>
          </a:solidFill>
          <a:ln w="12700">
            <a:solidFill>
              <a:srgbClr val="9AA5B1"/>
            </a:solidFill>
            <a:prstDash val="solid"/>
          </a:ln>
        </p:spPr>
      </p:sp>
      <p:pic>
        <p:nvPicPr>
          <p:cNvPr id="5" name="Image 0" descr="Streamlit screenshot: dashboard.png">    </p:cNvPr>
          <p:cNvPicPr>
            <a:picLocks noChangeAspect="1"/>
          </p:cNvPicPr>
          <p:nvPr/>
        </p:nvPicPr>
        <p:blipFill>
          <a:blip r:embed="rId1"/>
          <a:stretch>
            <a:fillRect/>
          </a:stretch>
        </p:blipFill>
        <p:spPr>
          <a:xfrm>
            <a:off x="548640" y="1188720"/>
            <a:ext cx="4608261" cy="3611880"/>
          </a:xfrm>
          <a:prstGeom prst="rect">
            <a:avLst/>
          </a:prstGeom>
        </p:spPr>
      </p:pic>
      <p:sp>
        <p:nvSpPr>
          <p:cNvPr id="6" name="Shape 2"/>
          <p:cNvSpPr/>
          <p:nvPr/>
        </p:nvSpPr>
        <p:spPr>
          <a:xfrm>
            <a:off x="6144768" y="1161288"/>
            <a:ext cx="4663125" cy="3666744"/>
          </a:xfrm>
          <a:prstGeom prst="rect">
            <a:avLst/>
          </a:prstGeom>
          <a:solidFill>
            <a:srgbClr val="FFFFFF"/>
          </a:solidFill>
          <a:ln w="12700">
            <a:solidFill>
              <a:srgbClr val="9AA5B1"/>
            </a:solidFill>
            <a:prstDash val="solid"/>
          </a:ln>
        </p:spPr>
      </p:sp>
      <p:pic>
        <p:nvPicPr>
          <p:cNvPr id="7" name="Image 1" descr="Streamlit screenshot: new.png">    </p:cNvPr>
          <p:cNvPicPr>
            <a:picLocks noChangeAspect="1"/>
          </p:cNvPicPr>
          <p:nvPr/>
        </p:nvPicPr>
        <p:blipFill>
          <a:blip r:embed="rId2"/>
          <a:stretch>
            <a:fillRect/>
          </a:stretch>
        </p:blipFill>
        <p:spPr>
          <a:xfrm>
            <a:off x="6172200" y="1188720"/>
            <a:ext cx="4608261" cy="3611880"/>
          </a:xfrm>
          <a:prstGeom prst="rect">
            <a:avLst/>
          </a:prstGeom>
        </p:spPr>
      </p:pic>
      <p:sp>
        <p:nvSpPr>
          <p:cNvPr id="8" name="Text 3"/>
          <p:cNvSpPr txBox="1"/>
          <p:nvPr/>
        </p:nvSpPr>
        <p:spPr>
          <a:xfrm>
            <a:off x="548640" y="4892040"/>
            <a:ext cx="5394960" cy="320040"/>
          </a:xfrm>
          <a:prstGeom prst="rect">
            <a:avLst/>
          </a:prstGeom>
          <a:noFill/>
          <a:ln/>
        </p:spPr>
        <p:txBody>
          <a:bodyPr wrap="square" lIns="0" tIns="0" rIns="0" bIns="0" rtlCol="0" anchor="t"/>
          <a:lstStyle/>
          <a:p>
            <a:pPr indent="0" marL="0">
              <a:buNone/>
            </a:pPr>
            <a:r>
              <a:rPr lang="en-US" sz="1350" b="1" dirty="0">
                <a:solidFill>
                  <a:srgbClr val="0B1F3A"/>
                </a:solidFill>
                <a:latin typeface="Calibri" pitchFamily="34" charset="0"/>
                <a:ea typeface="Calibri" pitchFamily="34" charset="-122"/>
                <a:cs typeface="Calibri" pitchFamily="34" charset="-120"/>
              </a:rPr>
              <a:t>Dashboard: KPIs and recent requests, all read from SQLite</a:t>
            </a:r>
            <a:endParaRPr lang="en-US" sz="1350" dirty="0"/>
          </a:p>
        </p:txBody>
      </p:sp>
      <p:sp>
        <p:nvSpPr>
          <p:cNvPr id="9" name="Text 4"/>
          <p:cNvSpPr txBox="1"/>
          <p:nvPr/>
        </p:nvSpPr>
        <p:spPr>
          <a:xfrm>
            <a:off x="6172200" y="4892040"/>
            <a:ext cx="5394960" cy="320040"/>
          </a:xfrm>
          <a:prstGeom prst="rect">
            <a:avLst/>
          </a:prstGeom>
          <a:noFill/>
          <a:ln/>
        </p:spPr>
        <p:txBody>
          <a:bodyPr wrap="square" lIns="0" tIns="0" rIns="0" bIns="0" rtlCol="0" anchor="t"/>
          <a:lstStyle/>
          <a:p>
            <a:pPr indent="0" marL="0">
              <a:buNone/>
            </a:pPr>
            <a:r>
              <a:rPr lang="en-US" sz="1350" b="1" dirty="0">
                <a:solidFill>
                  <a:srgbClr val="0B1F3A"/>
                </a:solidFill>
                <a:latin typeface="Calibri" pitchFamily="34" charset="0"/>
                <a:ea typeface="Calibri" pitchFamily="34" charset="-122"/>
                <a:cs typeface="Calibri" pitchFamily="34" charset="-120"/>
              </a:rPr>
              <a:t>New Return Request: order ID, reason, optional description</a:t>
            </a:r>
            <a:endParaRPr lang="en-US" sz="1350" dirty="0"/>
          </a:p>
        </p:txBody>
      </p:sp>
      <p:sp>
        <p:nvSpPr>
          <p:cNvPr id="10" name="Shape 5"/>
          <p:cNvSpPr/>
          <p:nvPr/>
        </p:nvSpPr>
        <p:spPr>
          <a:xfrm>
            <a:off x="457200" y="5303520"/>
            <a:ext cx="11247120" cy="1005840"/>
          </a:xfrm>
          <a:prstGeom prst="rect">
            <a:avLst/>
          </a:prstGeom>
          <a:solidFill>
            <a:srgbClr val="E8F3F4"/>
          </a:solidFill>
          <a:ln w="9525">
            <a:solidFill>
              <a:srgbClr val="D5DDE5"/>
            </a:solidFill>
            <a:prstDash val="solid"/>
          </a:ln>
        </p:spPr>
      </p:sp>
      <p:sp>
        <p:nvSpPr>
          <p:cNvPr id="11" name="Text 6"/>
          <p:cNvSpPr txBox="1"/>
          <p:nvPr/>
        </p:nvSpPr>
        <p:spPr>
          <a:xfrm>
            <a:off x="685800" y="5394960"/>
            <a:ext cx="10789920" cy="8686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B2430"/>
                </a:solidFill>
                <a:latin typeface="Calibri" pitchFamily="34" charset="0"/>
                <a:ea typeface="Calibri" pitchFamily="34" charset="-122"/>
                <a:cs typeface="Calibri" pitchFamily="34" charset="-120"/>
              </a:rPr>
              <a:t>Six pages: Dashboard, New Return Request, Agent Workflow, Final Resolution, Request History, Demo and Testing</a:t>
            </a:r>
            <a:endParaRPr lang="en-US" sz="1400" dirty="0"/>
          </a:p>
          <a:p>
            <a:pPr marL="203200" indent="-203200">
              <a:spcAft>
                <a:spcPts val="400"/>
              </a:spcAft>
              <a:buSzPct val="100000"/>
              <a:buChar char="•"/>
            </a:pPr>
            <a:r>
              <a:rPr lang="en-US" sz="1400" dirty="0">
                <a:solidFill>
                  <a:srgbClr val="1B2430"/>
                </a:solidFill>
                <a:latin typeface="Calibri" pitchFamily="34" charset="0"/>
                <a:ea typeface="Calibri" pitchFamily="34" charset="-122"/>
                <a:cs typeface="Calibri" pitchFamily="34" charset="-120"/>
              </a:rPr>
              <a:t>A one-time token blocks duplicate submissions; labels say Refund Recommended, never Refunded, and no payment is made</a:t>
            </a:r>
            <a:endParaRPr lang="en-US" sz="14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Demonstration: all five agents with the hand-off between them</a:t>
            </a:r>
            <a:endParaRPr lang="en-US" sz="2600" dirty="0"/>
          </a:p>
        </p:txBody>
      </p:sp>
      <p:sp>
        <p:nvSpPr>
          <p:cNvPr id="4" name="Shape 1"/>
          <p:cNvSpPr/>
          <p:nvPr/>
        </p:nvSpPr>
        <p:spPr>
          <a:xfrm>
            <a:off x="475488" y="1161288"/>
            <a:ext cx="5993518" cy="4672584"/>
          </a:xfrm>
          <a:prstGeom prst="rect">
            <a:avLst/>
          </a:prstGeom>
          <a:solidFill>
            <a:srgbClr val="FFFFFF"/>
          </a:solidFill>
          <a:ln w="12700">
            <a:solidFill>
              <a:srgbClr val="9AA5B1"/>
            </a:solidFill>
            <a:prstDash val="solid"/>
          </a:ln>
        </p:spPr>
      </p:sp>
      <p:pic>
        <p:nvPicPr>
          <p:cNvPr id="5" name="Image 0" descr="Streamlit screenshot: wf_top.png">    </p:cNvPr>
          <p:cNvPicPr>
            <a:picLocks noChangeAspect="1"/>
          </p:cNvPicPr>
          <p:nvPr/>
        </p:nvPicPr>
        <p:blipFill>
          <a:blip r:embed="rId1"/>
          <a:stretch>
            <a:fillRect/>
          </a:stretch>
        </p:blipFill>
        <p:spPr>
          <a:xfrm>
            <a:off x="502920" y="1188720"/>
            <a:ext cx="5938654" cy="4617720"/>
          </a:xfrm>
          <a:prstGeom prst="rect">
            <a:avLst/>
          </a:prstGeom>
        </p:spPr>
      </p:pic>
      <p:sp>
        <p:nvSpPr>
          <p:cNvPr id="6" name="Shape 2"/>
          <p:cNvSpPr/>
          <p:nvPr/>
        </p:nvSpPr>
        <p:spPr>
          <a:xfrm>
            <a:off x="6734182" y="1161288"/>
            <a:ext cx="5025002" cy="2228719"/>
          </a:xfrm>
          <a:prstGeom prst="rect">
            <a:avLst/>
          </a:prstGeom>
          <a:solidFill>
            <a:srgbClr val="FFFFFF"/>
          </a:solidFill>
          <a:ln w="12700">
            <a:solidFill>
              <a:srgbClr val="9AA5B1"/>
            </a:solidFill>
            <a:prstDash val="solid"/>
          </a:ln>
        </p:spPr>
      </p:sp>
      <p:pic>
        <p:nvPicPr>
          <p:cNvPr id="7" name="Image 1" descr="Streamlit screenshot: wf_bot.png">    </p:cNvPr>
          <p:cNvPicPr>
            <a:picLocks noChangeAspect="1"/>
          </p:cNvPicPr>
          <p:nvPr/>
        </p:nvPicPr>
        <p:blipFill>
          <a:blip r:embed="rId2"/>
          <a:stretch>
            <a:fillRect/>
          </a:stretch>
        </p:blipFill>
        <p:spPr>
          <a:xfrm>
            <a:off x="6761614" y="1188720"/>
            <a:ext cx="4970138" cy="2173855"/>
          </a:xfrm>
          <a:prstGeom prst="rect">
            <a:avLst/>
          </a:prstGeom>
        </p:spPr>
      </p:pic>
      <p:sp>
        <p:nvSpPr>
          <p:cNvPr id="8" name="Text 3"/>
          <p:cNvSpPr txBox="1"/>
          <p:nvPr/>
        </p:nvSpPr>
        <p:spPr>
          <a:xfrm>
            <a:off x="6761614" y="3636895"/>
            <a:ext cx="4970138" cy="2672465"/>
          </a:xfrm>
          <a:prstGeom prst="rect">
            <a:avLst/>
          </a:prstGeom>
          <a:noFill/>
          <a:ln/>
        </p:spPr>
        <p:txBody>
          <a:bodyPr wrap="square" lIns="0" tIns="0" rIns="0" bIns="0" rtlCol="0" anchor="t"/>
          <a:lstStyle/>
          <a:p>
            <a:pPr marL="203200" indent="-203200">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Each agent is its own step; the arrow lines name the exact values handed on (for example refund_amount=45999.0)</a:t>
            </a:r>
            <a:endParaRPr lang="en-US" sz="1350" dirty="0"/>
          </a:p>
          <a:p>
            <a:pPr marL="203200" indent="-203200">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Here the Resolution amount was deliberately corrupted (Rs. 4,599.90); the Validation agent fails it (7/8 checks)</a:t>
            </a:r>
            <a:endParaRPr lang="en-US" sz="1350" dirty="0"/>
          </a:p>
          <a:p>
            <a:pPr marL="203200" indent="-203200">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One correction runs, the Critic revalidates (8/8) and the request is validated</a:t>
            </a:r>
            <a:endParaRPr lang="en-US" sz="1350" dirty="0"/>
          </a:p>
          <a:p>
            <a:pPr marL="203200" indent="-203200">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Unknown order: later agents show Skipped, status Failed</a:t>
            </a:r>
            <a:endParaRPr lang="en-US" sz="1350" dirty="0"/>
          </a:p>
        </p:txBody>
      </p:sp>
      <p:sp>
        <p:nvSpPr>
          <p:cNvPr id="9" name="Text 4"/>
          <p:cNvSpPr txBox="1"/>
          <p:nvPr/>
        </p:nvSpPr>
        <p:spPr>
          <a:xfrm>
            <a:off x="502920" y="5943600"/>
            <a:ext cx="5943600" cy="274320"/>
          </a:xfrm>
          <a:prstGeom prst="rect">
            <a:avLst/>
          </a:prstGeom>
          <a:noFill/>
          <a:ln/>
        </p:spPr>
        <p:txBody>
          <a:bodyPr wrap="square" lIns="0" tIns="0" rIns="0" bIns="0" rtlCol="0" anchor="t"/>
          <a:lstStyle/>
          <a:p>
            <a:pPr indent="0" marL="0">
              <a:buNone/>
            </a:pPr>
            <a:r>
              <a:rPr lang="en-US" sz="1200" i="1" dirty="0">
                <a:solidFill>
                  <a:srgbClr val="5B6B7C"/>
                </a:solidFill>
                <a:latin typeface="Calibri" pitchFamily="34" charset="0"/>
                <a:ea typeface="Calibri" pitchFamily="34" charset="-122"/>
                <a:cs typeface="Calibri" pitchFamily="34" charset="-120"/>
              </a:rPr>
              <a:t>Scenario SC-09, real run from the Streamlit app (Agent Workflow page)</a:t>
            </a:r>
            <a:endParaRPr lang="en-US" sz="12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Demonstration: final resolution and Critic validation</a:t>
            </a:r>
            <a:endParaRPr lang="en-US" sz="2600" dirty="0"/>
          </a:p>
        </p:txBody>
      </p:sp>
      <p:sp>
        <p:nvSpPr>
          <p:cNvPr id="4" name="Shape 1"/>
          <p:cNvSpPr/>
          <p:nvPr/>
        </p:nvSpPr>
        <p:spPr>
          <a:xfrm>
            <a:off x="429768" y="1161288"/>
            <a:ext cx="5246449" cy="4123944"/>
          </a:xfrm>
          <a:prstGeom prst="rect">
            <a:avLst/>
          </a:prstGeom>
          <a:solidFill>
            <a:srgbClr val="FFFFFF"/>
          </a:solidFill>
          <a:ln w="12700">
            <a:solidFill>
              <a:srgbClr val="9AA5B1"/>
            </a:solidFill>
            <a:prstDash val="solid"/>
          </a:ln>
        </p:spPr>
      </p:sp>
      <p:pic>
        <p:nvPicPr>
          <p:cNvPr id="5" name="Image 0" descr="Streamlit screenshot: resolution.png">    </p:cNvPr>
          <p:cNvPicPr>
            <a:picLocks noChangeAspect="1"/>
          </p:cNvPicPr>
          <p:nvPr/>
        </p:nvPicPr>
        <p:blipFill>
          <a:blip r:embed="rId1"/>
          <a:stretch>
            <a:fillRect/>
          </a:stretch>
        </p:blipFill>
        <p:spPr>
          <a:xfrm>
            <a:off x="457200" y="1188720"/>
            <a:ext cx="5191585" cy="4069080"/>
          </a:xfrm>
          <a:prstGeom prst="rect">
            <a:avLst/>
          </a:prstGeom>
        </p:spPr>
      </p:pic>
      <p:sp>
        <p:nvSpPr>
          <p:cNvPr id="6" name="Text 2"/>
          <p:cNvSpPr txBox="1"/>
          <p:nvPr/>
        </p:nvSpPr>
        <p:spPr>
          <a:xfrm>
            <a:off x="6014545" y="1188720"/>
            <a:ext cx="5717207" cy="365760"/>
          </a:xfrm>
          <a:prstGeom prst="rect">
            <a:avLst/>
          </a:prstGeom>
          <a:noFill/>
          <a:ln/>
        </p:spPr>
        <p:txBody>
          <a:bodyPr wrap="square" lIns="0" tIns="0" rIns="0" bIns="0" rtlCol="0" anchor="t"/>
          <a:lstStyle/>
          <a:p>
            <a:pPr indent="0" marL="0">
              <a:buNone/>
            </a:pPr>
            <a:r>
              <a:rPr lang="en-US" sz="1800" b="1" dirty="0">
                <a:solidFill>
                  <a:srgbClr val="0E7C86"/>
                </a:solidFill>
                <a:latin typeface="Cambria" pitchFamily="34" charset="0"/>
                <a:ea typeface="Cambria" pitchFamily="34" charset="-122"/>
                <a:cs typeface="Cambria" pitchFamily="34" charset="-120"/>
              </a:rPr>
              <a:t>What the page proves</a:t>
            </a:r>
            <a:endParaRPr lang="en-US" sz="1800" dirty="0"/>
          </a:p>
        </p:txBody>
      </p:sp>
      <p:sp>
        <p:nvSpPr>
          <p:cNvPr id="7" name="Text 3"/>
          <p:cNvSpPr txBox="1"/>
          <p:nvPr/>
        </p:nvSpPr>
        <p:spPr>
          <a:xfrm>
            <a:off x="6014545" y="1691640"/>
            <a:ext cx="5717207" cy="329184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1B2430"/>
                </a:solidFill>
                <a:latin typeface="Calibri" pitchFamily="34" charset="0"/>
                <a:ea typeface="Calibri" pitchFamily="34" charset="-122"/>
                <a:cs typeface="Calibri" pitchFamily="34" charset="-120"/>
              </a:rPr>
              <a:t>Recommendation, amount and confidence in one card</a:t>
            </a:r>
            <a:endParaRPr lang="en-US" sz="1500" dirty="0"/>
          </a:p>
          <a:p>
            <a:pPr marL="203200" indent="-203200">
              <a:spcAft>
                <a:spcPts val="1200"/>
              </a:spcAft>
              <a:buSzPct val="100000"/>
              <a:buChar char="•"/>
            </a:pPr>
            <a:r>
              <a:rPr lang="en-US" sz="1500" dirty="0">
                <a:solidFill>
                  <a:srgbClr val="1B2430"/>
                </a:solidFill>
                <a:latin typeface="Calibri" pitchFamily="34" charset="0"/>
                <a:ea typeface="Calibri" pitchFamily="34" charset="-122"/>
                <a:cs typeface="Calibri" pitchFamily="34" charset="-120"/>
              </a:rPr>
              <a:t>Order facts and the policy ID that justified the decision</a:t>
            </a:r>
            <a:endParaRPr lang="en-US" sz="1500" dirty="0"/>
          </a:p>
          <a:p>
            <a:pPr marL="203200" indent="-203200">
              <a:spcAft>
                <a:spcPts val="1200"/>
              </a:spcAft>
              <a:buSzPct val="100000"/>
              <a:buChar char="•"/>
            </a:pPr>
            <a:r>
              <a:rPr lang="en-US" sz="1500" dirty="0">
                <a:solidFill>
                  <a:srgbClr val="1B2430"/>
                </a:solidFill>
                <a:latin typeface="Calibri" pitchFamily="34" charset="0"/>
                <a:ea typeface="Calibri" pitchFamily="34" charset="-122"/>
                <a:cs typeface="Calibri" pitchFamily="34" charset="-120"/>
              </a:rPr>
              <a:t>Every Critic check listed with pass or fail</a:t>
            </a:r>
            <a:endParaRPr lang="en-US" sz="1500" dirty="0"/>
          </a:p>
          <a:p>
            <a:pPr marL="203200" indent="-203200">
              <a:spcAft>
                <a:spcPts val="1200"/>
              </a:spcAft>
              <a:buSzPct val="100000"/>
              <a:buChar char="•"/>
            </a:pPr>
            <a:r>
              <a:rPr lang="en-US" sz="1500" dirty="0">
                <a:solidFill>
                  <a:srgbClr val="1B2430"/>
                </a:solidFill>
                <a:latin typeface="Calibri" pitchFamily="34" charset="0"/>
                <a:ea typeface="Calibri" pitchFamily="34" charset="-122"/>
                <a:cs typeface="Calibri" pitchFamily="34" charset="-120"/>
              </a:rPr>
              <a:t>Wording is always a recommendation</a:t>
            </a:r>
            <a:endParaRPr lang="en-US" sz="1500" dirty="0"/>
          </a:p>
        </p:txBody>
      </p:sp>
      <p:sp>
        <p:nvSpPr>
          <p:cNvPr id="8" name="Shape 4"/>
          <p:cNvSpPr/>
          <p:nvPr/>
        </p:nvSpPr>
        <p:spPr>
          <a:xfrm>
            <a:off x="457200" y="5486400"/>
            <a:ext cx="11247120" cy="731520"/>
          </a:xfrm>
          <a:prstGeom prst="rect">
            <a:avLst/>
          </a:prstGeom>
          <a:solidFill>
            <a:srgbClr val="E8F3F4"/>
          </a:solidFill>
          <a:ln w="9525">
            <a:solidFill>
              <a:srgbClr val="D5DDE5"/>
            </a:solidFill>
            <a:prstDash val="solid"/>
          </a:ln>
        </p:spPr>
      </p:sp>
      <p:sp>
        <p:nvSpPr>
          <p:cNvPr id="9" name="Text 5"/>
          <p:cNvSpPr txBox="1"/>
          <p:nvPr/>
        </p:nvSpPr>
        <p:spPr>
          <a:xfrm>
            <a:off x="640080" y="5577840"/>
            <a:ext cx="10881360" cy="548640"/>
          </a:xfrm>
          <a:prstGeom prst="rect">
            <a:avLst/>
          </a:prstGeom>
          <a:noFill/>
          <a:ln/>
        </p:spPr>
        <p:txBody>
          <a:bodyPr wrap="square" lIns="0" tIns="0" rIns="0" bIns="0" rtlCol="0" anchor="ctr"/>
          <a:lstStyle/>
          <a:p>
            <a:pPr indent="0" marL="0">
              <a:buNone/>
            </a:pPr>
            <a:r>
              <a:rPr lang="en-US" sz="1400" dirty="0">
                <a:solidFill>
                  <a:srgbClr val="1B2430"/>
                </a:solidFill>
                <a:latin typeface="Calibri" pitchFamily="34" charset="0"/>
                <a:ea typeface="Calibri" pitchFamily="34" charset="-122"/>
                <a:cs typeface="Calibri" pitchFamily="34" charset="-120"/>
              </a:rPr>
              <a:t>Example: ORD-001 (defective, delivered within the window) gives Refund Recommended for the full order total of Rs. 45,999.00, validated by the Critic.</a:t>
            </a:r>
            <a:endParaRPr lang="en-US" sz="14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Demonstration: built-in test scenarios (Demo and Testing page)</a:t>
            </a:r>
            <a:endParaRPr lang="en-US" sz="2600" dirty="0"/>
          </a:p>
        </p:txBody>
      </p:sp>
      <p:sp>
        <p:nvSpPr>
          <p:cNvPr id="4" name="Shape 1"/>
          <p:cNvSpPr/>
          <p:nvPr/>
        </p:nvSpPr>
        <p:spPr>
          <a:xfrm>
            <a:off x="429768" y="1161288"/>
            <a:ext cx="5142586" cy="3621024"/>
          </a:xfrm>
          <a:prstGeom prst="rect">
            <a:avLst/>
          </a:prstGeom>
          <a:solidFill>
            <a:srgbClr val="FFFFFF"/>
          </a:solidFill>
          <a:ln w="12700">
            <a:solidFill>
              <a:srgbClr val="9AA5B1"/>
            </a:solidFill>
            <a:prstDash val="solid"/>
          </a:ln>
        </p:spPr>
      </p:sp>
      <p:pic>
        <p:nvPicPr>
          <p:cNvPr id="5" name="Image 0" descr="Streamlit screenshot: demo_res.png">    </p:cNvPr>
          <p:cNvPicPr>
            <a:picLocks noChangeAspect="1"/>
          </p:cNvPicPr>
          <p:nvPr/>
        </p:nvPicPr>
        <p:blipFill>
          <a:blip r:embed="rId1"/>
          <a:stretch>
            <a:fillRect/>
          </a:stretch>
        </p:blipFill>
        <p:spPr>
          <a:xfrm>
            <a:off x="457200" y="1188720"/>
            <a:ext cx="5087722" cy="3566160"/>
          </a:xfrm>
          <a:prstGeom prst="rect">
            <a:avLst/>
          </a:prstGeom>
        </p:spPr>
      </p:pic>
      <p:sp>
        <p:nvSpPr>
          <p:cNvPr id="6" name="Text 2"/>
          <p:cNvSpPr txBox="1"/>
          <p:nvPr/>
        </p:nvSpPr>
        <p:spPr>
          <a:xfrm>
            <a:off x="5910682" y="1188720"/>
            <a:ext cx="5821070" cy="365760"/>
          </a:xfrm>
          <a:prstGeom prst="rect">
            <a:avLst/>
          </a:prstGeom>
          <a:noFill/>
          <a:ln/>
        </p:spPr>
        <p:txBody>
          <a:bodyPr wrap="square" lIns="0" tIns="0" rIns="0" bIns="0" rtlCol="0" anchor="t"/>
          <a:lstStyle/>
          <a:p>
            <a:pPr indent="0" marL="0">
              <a:buNone/>
            </a:pPr>
            <a:r>
              <a:rPr lang="en-US" sz="1800" b="1" dirty="0">
                <a:solidFill>
                  <a:srgbClr val="0E7C86"/>
                </a:solidFill>
                <a:latin typeface="Cambria" pitchFamily="34" charset="0"/>
                <a:ea typeface="Cambria" pitchFamily="34" charset="-122"/>
                <a:cs typeface="Cambria" pitchFamily="34" charset="-120"/>
              </a:rPr>
              <a:t>How the scenarios are judged</a:t>
            </a:r>
            <a:endParaRPr lang="en-US" sz="1800" dirty="0"/>
          </a:p>
        </p:txBody>
      </p:sp>
      <p:sp>
        <p:nvSpPr>
          <p:cNvPr id="7" name="Text 3"/>
          <p:cNvSpPr txBox="1"/>
          <p:nvPr/>
        </p:nvSpPr>
        <p:spPr>
          <a:xfrm>
            <a:off x="5910682" y="1691640"/>
            <a:ext cx="5821070" cy="274320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Each scenario states its expected outcome up front</a:t>
            </a:r>
            <a:endParaRPr lang="en-US" sz="1450" dirty="0"/>
          </a:p>
          <a:p>
            <a:pPr marL="203200" indent="-2032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Pass is computed from checks on the stored result, not typed in</a:t>
            </a:r>
            <a:endParaRPr lang="en-US" sz="1450" dirty="0"/>
          </a:p>
          <a:p>
            <a:pPr marL="203200" indent="-2032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Includes fault injection (wrong amount, wrong action, persistent error)</a:t>
            </a:r>
            <a:endParaRPr lang="en-US" sz="1450" dirty="0"/>
          </a:p>
          <a:p>
            <a:pPr marL="203200" indent="-2032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12 of 12 executed scenarios pass</a:t>
            </a:r>
            <a:endParaRPr lang="en-US" sz="1450" dirty="0"/>
          </a:p>
        </p:txBody>
      </p:sp>
      <p:sp>
        <p:nvSpPr>
          <p:cNvPr id="8" name="Shape 4"/>
          <p:cNvSpPr/>
          <p:nvPr/>
        </p:nvSpPr>
        <p:spPr>
          <a:xfrm>
            <a:off x="457200" y="5120640"/>
            <a:ext cx="11247120" cy="1097280"/>
          </a:xfrm>
          <a:prstGeom prst="rect">
            <a:avLst/>
          </a:prstGeom>
          <a:solidFill>
            <a:srgbClr val="F2F5F8"/>
          </a:solidFill>
          <a:ln w="9525">
            <a:solidFill>
              <a:srgbClr val="D5DDE5"/>
            </a:solidFill>
            <a:prstDash val="solid"/>
          </a:ln>
        </p:spPr>
      </p:sp>
      <p:sp>
        <p:nvSpPr>
          <p:cNvPr id="9" name="Text 5"/>
          <p:cNvSpPr txBox="1"/>
          <p:nvPr/>
        </p:nvSpPr>
        <p:spPr>
          <a:xfrm>
            <a:off x="640080" y="5257800"/>
            <a:ext cx="10881360" cy="822960"/>
          </a:xfrm>
          <a:prstGeom prst="rect">
            <a:avLst/>
          </a:prstGeom>
          <a:noFill/>
          <a:ln/>
        </p:spPr>
        <p:txBody>
          <a:bodyPr wrap="square" lIns="0" tIns="0" rIns="0" bIns="0" rtlCol="0" anchor="ctr"/>
          <a:lstStyle/>
          <a:p>
            <a:pPr indent="0" marL="0">
              <a:buNone/>
            </a:pPr>
            <a:r>
              <a:rPr lang="en-US" sz="1300" dirty="0">
                <a:solidFill>
                  <a:srgbClr val="1B2430"/>
                </a:solidFill>
                <a:latin typeface="Courier New" pitchFamily="34" charset="0"/>
                <a:ea typeface="Courier New" pitchFamily="34" charset="-122"/>
                <a:cs typeface="Courier New" pitchFamily="34" charset="-120"/>
              </a:rPr>
              <a:t>Run it yourself:  streamlit run app.py   then open Demo and Testing and press Run all scenarios.</a:t>
            </a:r>
            <a:endParaRPr lang="en-US" sz="13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Output validation: how the results were checked</a:t>
            </a:r>
            <a:endParaRPr lang="en-US" sz="2600" dirty="0"/>
          </a:p>
        </p:txBody>
      </p:sp>
      <p:sp>
        <p:nvSpPr>
          <p:cNvPr id="4" name="Shape 1"/>
          <p:cNvSpPr/>
          <p:nvPr/>
        </p:nvSpPr>
        <p:spPr>
          <a:xfrm>
            <a:off x="457200" y="1188720"/>
            <a:ext cx="5120640" cy="1234440"/>
          </a:xfrm>
          <a:prstGeom prst="rect">
            <a:avLst/>
          </a:prstGeom>
          <a:solidFill>
            <a:srgbClr val="F2F5F8"/>
          </a:solidFill>
          <a:ln w="9525">
            <a:solidFill>
              <a:srgbClr val="D5DDE5"/>
            </a:solidFill>
            <a:prstDash val="solid"/>
          </a:ln>
        </p:spPr>
      </p:sp>
      <p:sp>
        <p:nvSpPr>
          <p:cNvPr id="5" name="Shape 2"/>
          <p:cNvSpPr/>
          <p:nvPr/>
        </p:nvSpPr>
        <p:spPr>
          <a:xfrm>
            <a:off x="640080" y="1463040"/>
            <a:ext cx="640080" cy="640080"/>
          </a:xfrm>
          <a:prstGeom prst="ellipse">
            <a:avLst/>
          </a:prstGeom>
          <a:solidFill>
            <a:srgbClr val="0E7C86"/>
          </a:solidFill>
          <a:ln w="12700">
            <a:solidFill>
              <a:srgbClr val="0E7C86"/>
            </a:solidFill>
            <a:prstDash val="solid"/>
          </a:ln>
        </p:spPr>
      </p:sp>
      <p:pic>
        <p:nvPicPr>
          <p:cNvPr id="6" name="Image 0" descr="shield icon">    </p:cNvPr>
          <p:cNvPicPr>
            <a:picLocks noChangeAspect="1"/>
          </p:cNvPicPr>
          <p:nvPr/>
        </p:nvPicPr>
        <p:blipFill>
          <a:blip r:embed="rId1"/>
          <a:stretch>
            <a:fillRect/>
          </a:stretch>
        </p:blipFill>
        <p:spPr>
          <a:xfrm>
            <a:off x="780898" y="1603858"/>
            <a:ext cx="358445" cy="358445"/>
          </a:xfrm>
          <a:prstGeom prst="rect">
            <a:avLst/>
          </a:prstGeom>
        </p:spPr>
      </p:pic>
      <p:sp>
        <p:nvSpPr>
          <p:cNvPr id="7" name="Text 3"/>
          <p:cNvSpPr txBox="1"/>
          <p:nvPr/>
        </p:nvSpPr>
        <p:spPr>
          <a:xfrm>
            <a:off x="1463040" y="1298448"/>
            <a:ext cx="4023360" cy="32004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At run time</a:t>
            </a:r>
            <a:endParaRPr lang="en-US" sz="1600" dirty="0"/>
          </a:p>
        </p:txBody>
      </p:sp>
      <p:sp>
        <p:nvSpPr>
          <p:cNvPr id="8" name="Text 4"/>
          <p:cNvSpPr txBox="1"/>
          <p:nvPr/>
        </p:nvSpPr>
        <p:spPr>
          <a:xfrm>
            <a:off x="1463040" y="1645920"/>
            <a:ext cx="4023360" cy="77724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Critic agent: 8 independent checks on every decision, with one bounded correction and revalidation.</a:t>
            </a:r>
            <a:endParaRPr lang="en-US" sz="1250" dirty="0"/>
          </a:p>
        </p:txBody>
      </p:sp>
      <p:sp>
        <p:nvSpPr>
          <p:cNvPr id="9" name="Shape 5"/>
          <p:cNvSpPr/>
          <p:nvPr/>
        </p:nvSpPr>
        <p:spPr>
          <a:xfrm>
            <a:off x="457200" y="2560320"/>
            <a:ext cx="5120640" cy="1234440"/>
          </a:xfrm>
          <a:prstGeom prst="rect">
            <a:avLst/>
          </a:prstGeom>
          <a:solidFill>
            <a:srgbClr val="F2F5F8"/>
          </a:solidFill>
          <a:ln w="9525">
            <a:solidFill>
              <a:srgbClr val="D5DDE5"/>
            </a:solidFill>
            <a:prstDash val="solid"/>
          </a:ln>
        </p:spPr>
      </p:sp>
      <p:sp>
        <p:nvSpPr>
          <p:cNvPr id="10" name="Shape 6"/>
          <p:cNvSpPr/>
          <p:nvPr/>
        </p:nvSpPr>
        <p:spPr>
          <a:xfrm>
            <a:off x="640080" y="2834640"/>
            <a:ext cx="640080" cy="640080"/>
          </a:xfrm>
          <a:prstGeom prst="ellipse">
            <a:avLst/>
          </a:prstGeom>
          <a:solidFill>
            <a:srgbClr val="0E7C86"/>
          </a:solidFill>
          <a:ln w="12700">
            <a:solidFill>
              <a:srgbClr val="0E7C86"/>
            </a:solidFill>
            <a:prstDash val="solid"/>
          </a:ln>
        </p:spPr>
      </p:sp>
      <p:pic>
        <p:nvPicPr>
          <p:cNvPr id="11" name="Image 1" descr="flask icon">    </p:cNvPr>
          <p:cNvPicPr>
            <a:picLocks noChangeAspect="1"/>
          </p:cNvPicPr>
          <p:nvPr/>
        </p:nvPicPr>
        <p:blipFill>
          <a:blip r:embed="rId2"/>
          <a:stretch>
            <a:fillRect/>
          </a:stretch>
        </p:blipFill>
        <p:spPr>
          <a:xfrm>
            <a:off x="780898" y="2975458"/>
            <a:ext cx="358445" cy="358445"/>
          </a:xfrm>
          <a:prstGeom prst="rect">
            <a:avLst/>
          </a:prstGeom>
        </p:spPr>
      </p:pic>
      <p:sp>
        <p:nvSpPr>
          <p:cNvPr id="12" name="Text 7"/>
          <p:cNvSpPr txBox="1"/>
          <p:nvPr/>
        </p:nvSpPr>
        <p:spPr>
          <a:xfrm>
            <a:off x="1463040" y="2670048"/>
            <a:ext cx="4023360" cy="32004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Automated tests</a:t>
            </a:r>
            <a:endParaRPr lang="en-US" sz="1600" dirty="0"/>
          </a:p>
        </p:txBody>
      </p:sp>
      <p:sp>
        <p:nvSpPr>
          <p:cNvPr id="13" name="Text 8"/>
          <p:cNvSpPr txBox="1"/>
          <p:nvPr/>
        </p:nvSpPr>
        <p:spPr>
          <a:xfrm>
            <a:off x="1463040" y="3017520"/>
            <a:ext cx="4023360" cy="77724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206 backend tests plus 8 browser tests and 18 front-end tests; 100-run collaboration matrix; fault-injection tests.</a:t>
            </a:r>
            <a:endParaRPr lang="en-US" sz="1250" dirty="0"/>
          </a:p>
        </p:txBody>
      </p:sp>
      <p:sp>
        <p:nvSpPr>
          <p:cNvPr id="14" name="Shape 9"/>
          <p:cNvSpPr/>
          <p:nvPr/>
        </p:nvSpPr>
        <p:spPr>
          <a:xfrm>
            <a:off x="457200" y="3931920"/>
            <a:ext cx="5120640" cy="1234440"/>
          </a:xfrm>
          <a:prstGeom prst="rect">
            <a:avLst/>
          </a:prstGeom>
          <a:solidFill>
            <a:srgbClr val="F2F5F8"/>
          </a:solidFill>
          <a:ln w="9525">
            <a:solidFill>
              <a:srgbClr val="D5DDE5"/>
            </a:solidFill>
            <a:prstDash val="solid"/>
          </a:ln>
        </p:spPr>
      </p:sp>
      <p:sp>
        <p:nvSpPr>
          <p:cNvPr id="15" name="Shape 10"/>
          <p:cNvSpPr/>
          <p:nvPr/>
        </p:nvSpPr>
        <p:spPr>
          <a:xfrm>
            <a:off x="640080" y="4206240"/>
            <a:ext cx="640080" cy="640080"/>
          </a:xfrm>
          <a:prstGeom prst="ellipse">
            <a:avLst/>
          </a:prstGeom>
          <a:solidFill>
            <a:srgbClr val="0E7C86"/>
          </a:solidFill>
          <a:ln w="12700">
            <a:solidFill>
              <a:srgbClr val="0E7C86"/>
            </a:solidFill>
            <a:prstDash val="solid"/>
          </a:ln>
        </p:spPr>
      </p:sp>
      <p:pic>
        <p:nvPicPr>
          <p:cNvPr id="16" name="Image 2" descr="search icon">    </p:cNvPr>
          <p:cNvPicPr>
            <a:picLocks noChangeAspect="1"/>
          </p:cNvPicPr>
          <p:nvPr/>
        </p:nvPicPr>
        <p:blipFill>
          <a:blip r:embed="rId3"/>
          <a:stretch>
            <a:fillRect/>
          </a:stretch>
        </p:blipFill>
        <p:spPr>
          <a:xfrm>
            <a:off x="780898" y="4347058"/>
            <a:ext cx="358445" cy="358445"/>
          </a:xfrm>
          <a:prstGeom prst="rect">
            <a:avLst/>
          </a:prstGeom>
        </p:spPr>
      </p:pic>
      <p:sp>
        <p:nvSpPr>
          <p:cNvPr id="17" name="Text 11"/>
          <p:cNvSpPr txBox="1"/>
          <p:nvPr/>
        </p:nvSpPr>
        <p:spPr>
          <a:xfrm>
            <a:off x="1463040" y="4041648"/>
            <a:ext cx="4023360" cy="32004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Manual inspection</a:t>
            </a:r>
            <a:endParaRPr lang="en-US" sz="1600" dirty="0"/>
          </a:p>
        </p:txBody>
      </p:sp>
      <p:sp>
        <p:nvSpPr>
          <p:cNvPr id="18" name="Text 12"/>
          <p:cNvSpPr txBox="1"/>
          <p:nvPr/>
        </p:nvSpPr>
        <p:spPr>
          <a:xfrm>
            <a:off x="1463040" y="4389120"/>
            <a:ext cx="4023360" cy="77724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Pages opened in Chromium at 1440 x 900 and screenshots reviewed; not a substitute for user testing.</a:t>
            </a:r>
            <a:endParaRPr lang="en-US" sz="1250" dirty="0"/>
          </a:p>
        </p:txBody>
      </p:sp>
      <p:graphicFrame>
        <p:nvGraphicFramePr>
          <p:cNvPr id="19" name="Chart 0" descr=""/>
          <p:cNvGraphicFramePr/>
          <p:nvPr/>
        </p:nvGraphicFramePr>
        <p:xfrm>
          <a:off x="5852160" y="1143000"/>
          <a:ext cx="5852160" cy="4069080"/>
        </p:xfrm>
        <a:graphic xmlns:a="http://schemas.openxmlformats.org/drawingml/2006/main">
          <a:graphicData uri="http://schemas.openxmlformats.org/drawingml/2006/chart">
            <c:chart xmlns:c="http://schemas.openxmlformats.org/drawingml/2006/chart" r:id="rId4"/>
          </a:graphicData>
        </a:graphic>
      </p:graphicFrame>
      <p:sp>
        <p:nvSpPr>
          <p:cNvPr id="20" name="Shape 13"/>
          <p:cNvSpPr/>
          <p:nvPr/>
        </p:nvSpPr>
        <p:spPr>
          <a:xfrm>
            <a:off x="5852160" y="5349240"/>
            <a:ext cx="5852160" cy="868680"/>
          </a:xfrm>
          <a:prstGeom prst="rect">
            <a:avLst/>
          </a:prstGeom>
          <a:solidFill>
            <a:srgbClr val="E8F3F4"/>
          </a:solidFill>
          <a:ln w="9525">
            <a:solidFill>
              <a:srgbClr val="D5DDE5"/>
            </a:solidFill>
            <a:prstDash val="solid"/>
          </a:ln>
        </p:spPr>
      </p:sp>
      <p:sp>
        <p:nvSpPr>
          <p:cNvPr id="21" name="Text 14"/>
          <p:cNvSpPr txBox="1"/>
          <p:nvPr/>
        </p:nvSpPr>
        <p:spPr>
          <a:xfrm>
            <a:off x="6035040" y="5413248"/>
            <a:ext cx="5486400" cy="731520"/>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Last run: 206 passed in 8.5 s (backend). Browser and front-end suites were run separately.</a:t>
            </a:r>
            <a:endParaRPr lang="en-US" sz="13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Results: the 12 demonstration scenarios</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47120" cy="914400"/>
        </p:xfrm>
        <a:graphic>
          <a:graphicData uri="http://schemas.openxmlformats.org/drawingml/2006/table">
            <a:tbl>
              <a:tblPr/>
              <a:tblGrid>
                <a:gridCol w="822960"/>
                <a:gridCol w="3840480"/>
                <a:gridCol w="5669280"/>
                <a:gridCol w="9144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Expected and observed outcome</a:t>
                      </a:r>
                      <a:endParaRPr lang="en-US" sz="12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B1F3A"/>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SC-01</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Valid return, within window</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Refund Rs. 45,999</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SC-02</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Expired return window</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Reject</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SC-03</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Damaged product, within window</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Refund Rs. 12,999</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SC-04</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Restricted product (digital licence)</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Reject</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SC-05</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Unknown order</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Failed; agents 3-5 skipped</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SC-06</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Missing order ID</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Rejected at intake; nothing saved</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SC-07</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Reason = other</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Manual review</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SC-08</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Replacement-only category</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Replacement</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SC-09</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Injected wrong amount</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Critic fails it; corrected to Rs. 45,999; revalidated</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SC-10</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Injected wrong action</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Critic fails it; corrected to Reject; revalidated</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SC-11</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Correction cannot fix the error</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Escalated to manual review</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B2430"/>
                          </a:solidFill>
                          <a:latin typeface="Calibri" pitchFamily="34" charset="0"/>
                          <a:ea typeface="Calibri" pitchFamily="34" charset="-122"/>
                          <a:cs typeface="Calibri" pitchFamily="34" charset="-120"/>
                        </a:rPr>
                        <a:t>SC-12</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Already-returned order</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l" indent="0" marL="0">
                        <a:buNone/>
                      </a:pPr>
                      <a:r>
                        <a:rPr lang="en-US" sz="1100" dirty="0">
                          <a:solidFill>
                            <a:srgbClr val="1B2430"/>
                          </a:solidFill>
                          <a:latin typeface="Calibri" pitchFamily="34" charset="0"/>
                          <a:ea typeface="Calibri" pitchFamily="34" charset="-122"/>
                          <a:cs typeface="Calibri" pitchFamily="34" charset="-120"/>
                        </a:rPr>
                        <a:t>Reject</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2F5F8"/>
                    </a:solidFill>
                  </a:tcPr>
                </a:tc>
              </a:tr>
            </a:tbl>
          </a:graphicData>
        </a:graphic>
      </p:graphicFrame>
      <p:sp>
        <p:nvSpPr>
          <p:cNvPr id="5" name="Text 1"/>
          <p:cNvSpPr txBox="1"/>
          <p:nvPr/>
        </p:nvSpPr>
        <p:spPr>
          <a:xfrm>
            <a:off x="457200" y="6199632"/>
            <a:ext cx="11247120" cy="274320"/>
          </a:xfrm>
          <a:prstGeom prst="rect">
            <a:avLst/>
          </a:prstGeom>
          <a:noFill/>
          <a:ln/>
        </p:spPr>
        <p:txBody>
          <a:bodyPr wrap="square" lIns="0" tIns="0" rIns="0" bIns="0" rtlCol="0" anchor="t"/>
          <a:lstStyle/>
          <a:p>
            <a:pPr indent="0" marL="0">
              <a:buNone/>
            </a:pPr>
            <a:r>
              <a:rPr lang="en-US" sz="1200" i="1" dirty="0">
                <a:solidFill>
                  <a:srgbClr val="5B6B7C"/>
                </a:solidFill>
                <a:latin typeface="Calibri" pitchFamily="34" charset="0"/>
                <a:ea typeface="Calibri" pitchFamily="34" charset="-122"/>
                <a:cs typeface="Calibri" pitchFamily="34" charset="-120"/>
              </a:rPr>
              <a:t>12 of 12 executed scenarios pass. Pass or fail is computed from checks on the stored result.</a:t>
            </a:r>
            <a:endParaRPr lang="en-US" sz="12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Limitations</a:t>
            </a:r>
            <a:endParaRPr lang="en-US" sz="2600" dirty="0"/>
          </a:p>
        </p:txBody>
      </p:sp>
      <p:sp>
        <p:nvSpPr>
          <p:cNvPr id="4" name="Shape 1"/>
          <p:cNvSpPr/>
          <p:nvPr/>
        </p:nvSpPr>
        <p:spPr>
          <a:xfrm>
            <a:off x="457200" y="1188720"/>
            <a:ext cx="5577840" cy="1554480"/>
          </a:xfrm>
          <a:prstGeom prst="rect">
            <a:avLst/>
          </a:prstGeom>
          <a:solidFill>
            <a:srgbClr val="F2F5F8"/>
          </a:solidFill>
          <a:ln w="9525">
            <a:solidFill>
              <a:srgbClr val="D5DDE5"/>
            </a:solidFill>
            <a:prstDash val="solid"/>
          </a:ln>
        </p:spPr>
      </p:sp>
      <p:sp>
        <p:nvSpPr>
          <p:cNvPr id="5" name="Shape 2"/>
          <p:cNvSpPr/>
          <p:nvPr/>
        </p:nvSpPr>
        <p:spPr>
          <a:xfrm>
            <a:off x="457200" y="1188720"/>
            <a:ext cx="82296" cy="1554480"/>
          </a:xfrm>
          <a:prstGeom prst="rect">
            <a:avLst/>
          </a:prstGeom>
          <a:solidFill>
            <a:srgbClr val="0E7C86"/>
          </a:solidFill>
          <a:ln w="12700">
            <a:solidFill>
              <a:srgbClr val="0E7C86"/>
            </a:solidFill>
            <a:prstDash val="solid"/>
          </a:ln>
        </p:spPr>
      </p:sp>
      <p:sp>
        <p:nvSpPr>
          <p:cNvPr id="6" name="Text 3"/>
          <p:cNvSpPr txBox="1"/>
          <p:nvPr/>
        </p:nvSpPr>
        <p:spPr>
          <a:xfrm>
            <a:off x="731520" y="1325880"/>
            <a:ext cx="51206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Synthetic data only</a:t>
            </a:r>
            <a:endParaRPr lang="en-US" sz="1600" dirty="0"/>
          </a:p>
        </p:txBody>
      </p:sp>
      <p:sp>
        <p:nvSpPr>
          <p:cNvPr id="7" name="Text 4"/>
          <p:cNvSpPr txBox="1"/>
          <p:nvPr/>
        </p:nvSpPr>
        <p:spPr>
          <a:xfrm>
            <a:off x="731520" y="1755648"/>
            <a:ext cx="5120640" cy="9144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20 fictional orders and invented policies; the reference date is pinned to 2025-02-15 so results are reproducible.</a:t>
            </a:r>
            <a:endParaRPr lang="en-US" sz="1500" dirty="0"/>
          </a:p>
        </p:txBody>
      </p:sp>
      <p:sp>
        <p:nvSpPr>
          <p:cNvPr id="8" name="Shape 5"/>
          <p:cNvSpPr/>
          <p:nvPr/>
        </p:nvSpPr>
        <p:spPr>
          <a:xfrm>
            <a:off x="6126480" y="1188720"/>
            <a:ext cx="5577840" cy="1554480"/>
          </a:xfrm>
          <a:prstGeom prst="rect">
            <a:avLst/>
          </a:prstGeom>
          <a:solidFill>
            <a:srgbClr val="F2F5F8"/>
          </a:solidFill>
          <a:ln w="9525">
            <a:solidFill>
              <a:srgbClr val="D5DDE5"/>
            </a:solidFill>
            <a:prstDash val="solid"/>
          </a:ln>
        </p:spPr>
      </p:sp>
      <p:sp>
        <p:nvSpPr>
          <p:cNvPr id="9" name="Shape 6"/>
          <p:cNvSpPr/>
          <p:nvPr/>
        </p:nvSpPr>
        <p:spPr>
          <a:xfrm>
            <a:off x="6126480" y="1188720"/>
            <a:ext cx="82296" cy="1554480"/>
          </a:xfrm>
          <a:prstGeom prst="rect">
            <a:avLst/>
          </a:prstGeom>
          <a:solidFill>
            <a:srgbClr val="0E7C86"/>
          </a:solidFill>
          <a:ln w="12700">
            <a:solidFill>
              <a:srgbClr val="0E7C86"/>
            </a:solidFill>
            <a:prstDash val="solid"/>
          </a:ln>
        </p:spPr>
      </p:sp>
      <p:sp>
        <p:nvSpPr>
          <p:cNvPr id="10" name="Text 7"/>
          <p:cNvSpPr txBox="1"/>
          <p:nvPr/>
        </p:nvSpPr>
        <p:spPr>
          <a:xfrm>
            <a:off x="6400800" y="1325880"/>
            <a:ext cx="51206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Rule-based agents, no LLM</a:t>
            </a:r>
            <a:endParaRPr lang="en-US" sz="1600" dirty="0"/>
          </a:p>
        </p:txBody>
      </p:sp>
      <p:sp>
        <p:nvSpPr>
          <p:cNvPr id="11" name="Text 8"/>
          <p:cNvSpPr txBox="1"/>
          <p:nvPr/>
        </p:nvSpPr>
        <p:spPr>
          <a:xfrm>
            <a:off x="6400800" y="1755648"/>
            <a:ext cx="5120640" cy="9144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Agents are deterministic Python. The free-text description is only keyword-flagged, not understood.</a:t>
            </a:r>
            <a:endParaRPr lang="en-US" sz="1500" dirty="0"/>
          </a:p>
        </p:txBody>
      </p:sp>
      <p:sp>
        <p:nvSpPr>
          <p:cNvPr id="12" name="Shape 9"/>
          <p:cNvSpPr/>
          <p:nvPr/>
        </p:nvSpPr>
        <p:spPr>
          <a:xfrm>
            <a:off x="457200" y="2880360"/>
            <a:ext cx="5577840" cy="1554480"/>
          </a:xfrm>
          <a:prstGeom prst="rect">
            <a:avLst/>
          </a:prstGeom>
          <a:solidFill>
            <a:srgbClr val="F2F5F8"/>
          </a:solidFill>
          <a:ln w="9525">
            <a:solidFill>
              <a:srgbClr val="D5DDE5"/>
            </a:solidFill>
            <a:prstDash val="solid"/>
          </a:ln>
        </p:spPr>
      </p:sp>
      <p:sp>
        <p:nvSpPr>
          <p:cNvPr id="13" name="Shape 10"/>
          <p:cNvSpPr/>
          <p:nvPr/>
        </p:nvSpPr>
        <p:spPr>
          <a:xfrm>
            <a:off x="457200" y="2880360"/>
            <a:ext cx="82296" cy="1554480"/>
          </a:xfrm>
          <a:prstGeom prst="rect">
            <a:avLst/>
          </a:prstGeom>
          <a:solidFill>
            <a:srgbClr val="C98A1B"/>
          </a:solidFill>
          <a:ln w="12700">
            <a:solidFill>
              <a:srgbClr val="C98A1B"/>
            </a:solidFill>
            <a:prstDash val="solid"/>
          </a:ln>
        </p:spPr>
      </p:sp>
      <p:sp>
        <p:nvSpPr>
          <p:cNvPr id="14" name="Text 11"/>
          <p:cNvSpPr txBox="1"/>
          <p:nvPr/>
        </p:nvSpPr>
        <p:spPr>
          <a:xfrm>
            <a:off x="731520" y="3017520"/>
            <a:ext cx="51206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Critic trust boundary</a:t>
            </a:r>
            <a:endParaRPr lang="en-US" sz="1600" dirty="0"/>
          </a:p>
        </p:txBody>
      </p:sp>
      <p:sp>
        <p:nvSpPr>
          <p:cNvPr id="15" name="Text 12"/>
          <p:cNvSpPr txBox="1"/>
          <p:nvPr/>
        </p:nvSpPr>
        <p:spPr>
          <a:xfrm>
            <a:off x="731520" y="3447288"/>
            <a:ext cx="5120640" cy="9144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The Critic re-verifies Eligibility and Resolution but treats the order record read by Research as ground truth.</a:t>
            </a:r>
            <a:endParaRPr lang="en-US" sz="1500" dirty="0"/>
          </a:p>
        </p:txBody>
      </p:sp>
      <p:sp>
        <p:nvSpPr>
          <p:cNvPr id="16" name="Shape 13"/>
          <p:cNvSpPr/>
          <p:nvPr/>
        </p:nvSpPr>
        <p:spPr>
          <a:xfrm>
            <a:off x="6126480" y="2880360"/>
            <a:ext cx="5577840" cy="1554480"/>
          </a:xfrm>
          <a:prstGeom prst="rect">
            <a:avLst/>
          </a:prstGeom>
          <a:solidFill>
            <a:srgbClr val="F2F5F8"/>
          </a:solidFill>
          <a:ln w="9525">
            <a:solidFill>
              <a:srgbClr val="D5DDE5"/>
            </a:solidFill>
            <a:prstDash val="solid"/>
          </a:ln>
        </p:spPr>
      </p:sp>
      <p:sp>
        <p:nvSpPr>
          <p:cNvPr id="17" name="Shape 14"/>
          <p:cNvSpPr/>
          <p:nvPr/>
        </p:nvSpPr>
        <p:spPr>
          <a:xfrm>
            <a:off x="6126480" y="2880360"/>
            <a:ext cx="82296" cy="1554480"/>
          </a:xfrm>
          <a:prstGeom prst="rect">
            <a:avLst/>
          </a:prstGeom>
          <a:solidFill>
            <a:srgbClr val="0E7C86"/>
          </a:solidFill>
          <a:ln w="12700">
            <a:solidFill>
              <a:srgbClr val="0E7C86"/>
            </a:solidFill>
            <a:prstDash val="solid"/>
          </a:ln>
        </p:spPr>
      </p:sp>
      <p:sp>
        <p:nvSpPr>
          <p:cNvPr id="18" name="Text 15"/>
          <p:cNvSpPr txBox="1"/>
          <p:nvPr/>
        </p:nvSpPr>
        <p:spPr>
          <a:xfrm>
            <a:off x="6400800" y="3017520"/>
            <a:ext cx="51206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Narrow business scope</a:t>
            </a:r>
            <a:endParaRPr lang="en-US" sz="1600" dirty="0"/>
          </a:p>
        </p:txBody>
      </p:sp>
      <p:sp>
        <p:nvSpPr>
          <p:cNvPr id="19" name="Text 16"/>
          <p:cNvSpPr txBox="1"/>
          <p:nvPr/>
        </p:nvSpPr>
        <p:spPr>
          <a:xfrm>
            <a:off x="6400800" y="3447288"/>
            <a:ext cx="5120640" cy="9144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Full refunds only: no partial refunds, restocking fees, shipping costs, photo evidence or fraud signals.</a:t>
            </a:r>
            <a:endParaRPr lang="en-US" sz="1500" dirty="0"/>
          </a:p>
        </p:txBody>
      </p:sp>
      <p:sp>
        <p:nvSpPr>
          <p:cNvPr id="20" name="Shape 17"/>
          <p:cNvSpPr/>
          <p:nvPr/>
        </p:nvSpPr>
        <p:spPr>
          <a:xfrm>
            <a:off x="457200" y="4572000"/>
            <a:ext cx="5577840" cy="1554480"/>
          </a:xfrm>
          <a:prstGeom prst="rect">
            <a:avLst/>
          </a:prstGeom>
          <a:solidFill>
            <a:srgbClr val="F2F5F8"/>
          </a:solidFill>
          <a:ln w="9525">
            <a:solidFill>
              <a:srgbClr val="D5DDE5"/>
            </a:solidFill>
            <a:prstDash val="solid"/>
          </a:ln>
        </p:spPr>
      </p:sp>
      <p:sp>
        <p:nvSpPr>
          <p:cNvPr id="21" name="Shape 18"/>
          <p:cNvSpPr/>
          <p:nvPr/>
        </p:nvSpPr>
        <p:spPr>
          <a:xfrm>
            <a:off x="457200" y="4572000"/>
            <a:ext cx="82296" cy="1554480"/>
          </a:xfrm>
          <a:prstGeom prst="rect">
            <a:avLst/>
          </a:prstGeom>
          <a:solidFill>
            <a:srgbClr val="0E7C86"/>
          </a:solidFill>
          <a:ln w="12700">
            <a:solidFill>
              <a:srgbClr val="0E7C86"/>
            </a:solidFill>
            <a:prstDash val="solid"/>
          </a:ln>
        </p:spPr>
      </p:sp>
      <p:sp>
        <p:nvSpPr>
          <p:cNvPr id="22" name="Text 19"/>
          <p:cNvSpPr txBox="1"/>
          <p:nvPr/>
        </p:nvSpPr>
        <p:spPr>
          <a:xfrm>
            <a:off x="731520" y="4709160"/>
            <a:ext cx="51206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No integrations</a:t>
            </a:r>
            <a:endParaRPr lang="en-US" sz="1600" dirty="0"/>
          </a:p>
        </p:txBody>
      </p:sp>
      <p:sp>
        <p:nvSpPr>
          <p:cNvPr id="23" name="Text 20"/>
          <p:cNvSpPr txBox="1"/>
          <p:nvPr/>
        </p:nvSpPr>
        <p:spPr>
          <a:xfrm>
            <a:off x="731520" y="5138928"/>
            <a:ext cx="5120640" cy="9144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No real payment, notification or order-system connection; no login or roles.</a:t>
            </a:r>
            <a:endParaRPr lang="en-US" sz="1500" dirty="0"/>
          </a:p>
        </p:txBody>
      </p:sp>
      <p:sp>
        <p:nvSpPr>
          <p:cNvPr id="24" name="Shape 21"/>
          <p:cNvSpPr/>
          <p:nvPr/>
        </p:nvSpPr>
        <p:spPr>
          <a:xfrm>
            <a:off x="6126480" y="4572000"/>
            <a:ext cx="5577840" cy="1554480"/>
          </a:xfrm>
          <a:prstGeom prst="rect">
            <a:avLst/>
          </a:prstGeom>
          <a:solidFill>
            <a:srgbClr val="F2F5F8"/>
          </a:solidFill>
          <a:ln w="9525">
            <a:solidFill>
              <a:srgbClr val="D5DDE5"/>
            </a:solidFill>
            <a:prstDash val="solid"/>
          </a:ln>
        </p:spPr>
      </p:sp>
      <p:sp>
        <p:nvSpPr>
          <p:cNvPr id="25" name="Shape 22"/>
          <p:cNvSpPr/>
          <p:nvPr/>
        </p:nvSpPr>
        <p:spPr>
          <a:xfrm>
            <a:off x="6126480" y="4572000"/>
            <a:ext cx="82296" cy="1554480"/>
          </a:xfrm>
          <a:prstGeom prst="rect">
            <a:avLst/>
          </a:prstGeom>
          <a:solidFill>
            <a:srgbClr val="0E7C86"/>
          </a:solidFill>
          <a:ln w="12700">
            <a:solidFill>
              <a:srgbClr val="0E7C86"/>
            </a:solidFill>
            <a:prstDash val="solid"/>
          </a:ln>
        </p:spPr>
      </p:sp>
      <p:sp>
        <p:nvSpPr>
          <p:cNvPr id="26" name="Text 23"/>
          <p:cNvSpPr txBox="1"/>
          <p:nvPr/>
        </p:nvSpPr>
        <p:spPr>
          <a:xfrm>
            <a:off x="6400800" y="4709160"/>
            <a:ext cx="51206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Scale and screens</a:t>
            </a:r>
            <a:endParaRPr lang="en-US" sz="1600" dirty="0"/>
          </a:p>
        </p:txBody>
      </p:sp>
      <p:sp>
        <p:nvSpPr>
          <p:cNvPr id="27" name="Text 24"/>
          <p:cNvSpPr txBox="1"/>
          <p:nvPr/>
        </p:nvSpPr>
        <p:spPr>
          <a:xfrm>
            <a:off x="6400800" y="5138928"/>
            <a:ext cx="5120640" cy="91440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SQLite is single-writer; layout was tested at laptop size (1440 x 900), not on phones.</a:t>
            </a:r>
            <a:endParaRPr lang="en-US" sz="150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Future scope</a:t>
            </a:r>
            <a:endParaRPr lang="en-US" sz="2600" dirty="0"/>
          </a:p>
        </p:txBody>
      </p:sp>
      <p:sp>
        <p:nvSpPr>
          <p:cNvPr id="4" name="Shape 1"/>
          <p:cNvSpPr/>
          <p:nvPr/>
        </p:nvSpPr>
        <p:spPr>
          <a:xfrm>
            <a:off x="457200" y="1188720"/>
            <a:ext cx="3657600" cy="2377440"/>
          </a:xfrm>
          <a:prstGeom prst="rect">
            <a:avLst/>
          </a:prstGeom>
          <a:solidFill>
            <a:srgbClr val="F2F5F8"/>
          </a:solidFill>
          <a:ln w="9525">
            <a:solidFill>
              <a:srgbClr val="D5DDE5"/>
            </a:solidFill>
            <a:prstDash val="solid"/>
          </a:ln>
        </p:spPr>
      </p:sp>
      <p:sp>
        <p:nvSpPr>
          <p:cNvPr id="5" name="Text 2"/>
          <p:cNvSpPr txBox="1"/>
          <p:nvPr/>
        </p:nvSpPr>
        <p:spPr>
          <a:xfrm>
            <a:off x="640080" y="1325880"/>
            <a:ext cx="548640" cy="548640"/>
          </a:xfrm>
          <a:prstGeom prst="rect">
            <a:avLst/>
          </a:prstGeom>
          <a:noFill/>
          <a:ln/>
        </p:spPr>
        <p:txBody>
          <a:bodyPr wrap="square" lIns="0" tIns="0" rIns="0" bIns="0" rtlCol="0" anchor="t"/>
          <a:lstStyle/>
          <a:p>
            <a:pPr indent="0" marL="0">
              <a:buNone/>
            </a:pPr>
            <a:r>
              <a:rPr lang="en-US" sz="2800" b="1" dirty="0">
                <a:solidFill>
                  <a:srgbClr val="0E7C86"/>
                </a:solidFill>
                <a:latin typeface="Cambria" pitchFamily="34" charset="0"/>
                <a:ea typeface="Cambria" pitchFamily="34" charset="-122"/>
                <a:cs typeface="Cambria" pitchFamily="34" charset="-120"/>
              </a:rPr>
              <a:t>1</a:t>
            </a:r>
            <a:endParaRPr lang="en-US" sz="2800" dirty="0"/>
          </a:p>
        </p:txBody>
      </p:sp>
      <p:sp>
        <p:nvSpPr>
          <p:cNvPr id="6" name="Text 3"/>
          <p:cNvSpPr txBox="1"/>
          <p:nvPr/>
        </p:nvSpPr>
        <p:spPr>
          <a:xfrm>
            <a:off x="640080" y="1920240"/>
            <a:ext cx="32918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Add an LLM carefully</a:t>
            </a:r>
            <a:endParaRPr lang="en-US" sz="1600" dirty="0"/>
          </a:p>
        </p:txBody>
      </p:sp>
      <p:sp>
        <p:nvSpPr>
          <p:cNvPr id="7" name="Text 4"/>
          <p:cNvSpPr txBox="1"/>
          <p:nvPr/>
        </p:nvSpPr>
        <p:spPr>
          <a:xfrm>
            <a:off x="640080" y="2331720"/>
            <a:ext cx="3291840" cy="118872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Use an LLM only to summarise or classify the description. Treat its output as untrusted; it can never override the rules.</a:t>
            </a:r>
            <a:endParaRPr lang="en-US" sz="1450" dirty="0"/>
          </a:p>
        </p:txBody>
      </p:sp>
      <p:sp>
        <p:nvSpPr>
          <p:cNvPr id="8" name="Shape 5"/>
          <p:cNvSpPr/>
          <p:nvPr/>
        </p:nvSpPr>
        <p:spPr>
          <a:xfrm>
            <a:off x="4251960" y="1188720"/>
            <a:ext cx="3657600" cy="2377440"/>
          </a:xfrm>
          <a:prstGeom prst="rect">
            <a:avLst/>
          </a:prstGeom>
          <a:solidFill>
            <a:srgbClr val="F2F5F8"/>
          </a:solidFill>
          <a:ln w="9525">
            <a:solidFill>
              <a:srgbClr val="D5DDE5"/>
            </a:solidFill>
            <a:prstDash val="solid"/>
          </a:ln>
        </p:spPr>
      </p:sp>
      <p:sp>
        <p:nvSpPr>
          <p:cNvPr id="9" name="Text 6"/>
          <p:cNvSpPr txBox="1"/>
          <p:nvPr/>
        </p:nvSpPr>
        <p:spPr>
          <a:xfrm>
            <a:off x="4434840" y="1325880"/>
            <a:ext cx="548640" cy="548640"/>
          </a:xfrm>
          <a:prstGeom prst="rect">
            <a:avLst/>
          </a:prstGeom>
          <a:noFill/>
          <a:ln/>
        </p:spPr>
        <p:txBody>
          <a:bodyPr wrap="square" lIns="0" tIns="0" rIns="0" bIns="0" rtlCol="0" anchor="t"/>
          <a:lstStyle/>
          <a:p>
            <a:pPr indent="0" marL="0">
              <a:buNone/>
            </a:pPr>
            <a:r>
              <a:rPr lang="en-US" sz="2800" b="1" dirty="0">
                <a:solidFill>
                  <a:srgbClr val="0E7C86"/>
                </a:solidFill>
                <a:latin typeface="Cambria" pitchFamily="34" charset="0"/>
                <a:ea typeface="Cambria" pitchFamily="34" charset="-122"/>
                <a:cs typeface="Cambria" pitchFamily="34" charset="-120"/>
              </a:rPr>
              <a:t>2</a:t>
            </a:r>
            <a:endParaRPr lang="en-US" sz="2800" dirty="0"/>
          </a:p>
        </p:txBody>
      </p:sp>
      <p:sp>
        <p:nvSpPr>
          <p:cNvPr id="10" name="Text 7"/>
          <p:cNvSpPr txBox="1"/>
          <p:nvPr/>
        </p:nvSpPr>
        <p:spPr>
          <a:xfrm>
            <a:off x="4434840" y="1920240"/>
            <a:ext cx="32918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Stronger Critic</a:t>
            </a:r>
            <a:endParaRPr lang="en-US" sz="1600" dirty="0"/>
          </a:p>
        </p:txBody>
      </p:sp>
      <p:sp>
        <p:nvSpPr>
          <p:cNvPr id="11" name="Text 8"/>
          <p:cNvSpPr txBox="1"/>
          <p:nvPr/>
        </p:nvSpPr>
        <p:spPr>
          <a:xfrm>
            <a:off x="4434840" y="2331720"/>
            <a:ext cx="3291840" cy="118872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Let the Critic re-read the order from the database itself so it no longer trusts the Research agent's record.</a:t>
            </a:r>
            <a:endParaRPr lang="en-US" sz="1450" dirty="0"/>
          </a:p>
        </p:txBody>
      </p:sp>
      <p:sp>
        <p:nvSpPr>
          <p:cNvPr id="12" name="Shape 9"/>
          <p:cNvSpPr/>
          <p:nvPr/>
        </p:nvSpPr>
        <p:spPr>
          <a:xfrm>
            <a:off x="8046720" y="1188720"/>
            <a:ext cx="3657600" cy="2377440"/>
          </a:xfrm>
          <a:prstGeom prst="rect">
            <a:avLst/>
          </a:prstGeom>
          <a:solidFill>
            <a:srgbClr val="F2F5F8"/>
          </a:solidFill>
          <a:ln w="9525">
            <a:solidFill>
              <a:srgbClr val="D5DDE5"/>
            </a:solidFill>
            <a:prstDash val="solid"/>
          </a:ln>
        </p:spPr>
      </p:sp>
      <p:sp>
        <p:nvSpPr>
          <p:cNvPr id="13" name="Text 10"/>
          <p:cNvSpPr txBox="1"/>
          <p:nvPr/>
        </p:nvSpPr>
        <p:spPr>
          <a:xfrm>
            <a:off x="8229600" y="1325880"/>
            <a:ext cx="548640" cy="548640"/>
          </a:xfrm>
          <a:prstGeom prst="rect">
            <a:avLst/>
          </a:prstGeom>
          <a:noFill/>
          <a:ln/>
        </p:spPr>
        <p:txBody>
          <a:bodyPr wrap="square" lIns="0" tIns="0" rIns="0" bIns="0" rtlCol="0" anchor="t"/>
          <a:lstStyle/>
          <a:p>
            <a:pPr indent="0" marL="0">
              <a:buNone/>
            </a:pPr>
            <a:r>
              <a:rPr lang="en-US" sz="2800" b="1" dirty="0">
                <a:solidFill>
                  <a:srgbClr val="0E7C86"/>
                </a:solidFill>
                <a:latin typeface="Cambria" pitchFamily="34" charset="0"/>
                <a:ea typeface="Cambria" pitchFamily="34" charset="-122"/>
                <a:cs typeface="Cambria" pitchFamily="34" charset="-120"/>
              </a:rPr>
              <a:t>3</a:t>
            </a:r>
            <a:endParaRPr lang="en-US" sz="2800" dirty="0"/>
          </a:p>
        </p:txBody>
      </p:sp>
      <p:sp>
        <p:nvSpPr>
          <p:cNvPr id="14" name="Text 11"/>
          <p:cNvSpPr txBox="1"/>
          <p:nvPr/>
        </p:nvSpPr>
        <p:spPr>
          <a:xfrm>
            <a:off x="8229600" y="1920240"/>
            <a:ext cx="32918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Richer policies</a:t>
            </a:r>
            <a:endParaRPr lang="en-US" sz="1600" dirty="0"/>
          </a:p>
        </p:txBody>
      </p:sp>
      <p:sp>
        <p:nvSpPr>
          <p:cNvPr id="15" name="Text 12"/>
          <p:cNvSpPr txBox="1"/>
          <p:nvPr/>
        </p:nvSpPr>
        <p:spPr>
          <a:xfrm>
            <a:off x="8229600" y="2331720"/>
            <a:ext cx="3291840" cy="118872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Partial refunds, restocking fees, photo evidence and fraud signals, with a policy editor.</a:t>
            </a:r>
            <a:endParaRPr lang="en-US" sz="1450" dirty="0"/>
          </a:p>
        </p:txBody>
      </p:sp>
      <p:sp>
        <p:nvSpPr>
          <p:cNvPr id="16" name="Shape 13"/>
          <p:cNvSpPr/>
          <p:nvPr/>
        </p:nvSpPr>
        <p:spPr>
          <a:xfrm>
            <a:off x="457200" y="3703320"/>
            <a:ext cx="3657600" cy="2377440"/>
          </a:xfrm>
          <a:prstGeom prst="rect">
            <a:avLst/>
          </a:prstGeom>
          <a:solidFill>
            <a:srgbClr val="F2F5F8"/>
          </a:solidFill>
          <a:ln w="9525">
            <a:solidFill>
              <a:srgbClr val="D5DDE5"/>
            </a:solidFill>
            <a:prstDash val="solid"/>
          </a:ln>
        </p:spPr>
      </p:sp>
      <p:sp>
        <p:nvSpPr>
          <p:cNvPr id="17" name="Text 14"/>
          <p:cNvSpPr txBox="1"/>
          <p:nvPr/>
        </p:nvSpPr>
        <p:spPr>
          <a:xfrm>
            <a:off x="640080" y="3840480"/>
            <a:ext cx="548640" cy="548640"/>
          </a:xfrm>
          <a:prstGeom prst="rect">
            <a:avLst/>
          </a:prstGeom>
          <a:noFill/>
          <a:ln/>
        </p:spPr>
        <p:txBody>
          <a:bodyPr wrap="square" lIns="0" tIns="0" rIns="0" bIns="0" rtlCol="0" anchor="t"/>
          <a:lstStyle/>
          <a:p>
            <a:pPr indent="0" marL="0">
              <a:buNone/>
            </a:pPr>
            <a:r>
              <a:rPr lang="en-US" sz="2800" b="1" dirty="0">
                <a:solidFill>
                  <a:srgbClr val="0E7C86"/>
                </a:solidFill>
                <a:latin typeface="Cambria" pitchFamily="34" charset="0"/>
                <a:ea typeface="Cambria" pitchFamily="34" charset="-122"/>
                <a:cs typeface="Cambria" pitchFamily="34" charset="-120"/>
              </a:rPr>
              <a:t>4</a:t>
            </a:r>
            <a:endParaRPr lang="en-US" sz="2800" dirty="0"/>
          </a:p>
        </p:txBody>
      </p:sp>
      <p:sp>
        <p:nvSpPr>
          <p:cNvPr id="18" name="Text 15"/>
          <p:cNvSpPr txBox="1"/>
          <p:nvPr/>
        </p:nvSpPr>
        <p:spPr>
          <a:xfrm>
            <a:off x="640080" y="4434840"/>
            <a:ext cx="32918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Real integrations</a:t>
            </a:r>
            <a:endParaRPr lang="en-US" sz="1600" dirty="0"/>
          </a:p>
        </p:txBody>
      </p:sp>
      <p:sp>
        <p:nvSpPr>
          <p:cNvPr id="19" name="Text 16"/>
          <p:cNvSpPr txBox="1"/>
          <p:nvPr/>
        </p:nvSpPr>
        <p:spPr>
          <a:xfrm>
            <a:off x="640080" y="4846320"/>
            <a:ext cx="3291840" cy="118872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Connect to payment, order management and notifications, with human approval before any money moves.</a:t>
            </a:r>
            <a:endParaRPr lang="en-US" sz="1450" dirty="0"/>
          </a:p>
        </p:txBody>
      </p:sp>
      <p:sp>
        <p:nvSpPr>
          <p:cNvPr id="20" name="Shape 17"/>
          <p:cNvSpPr/>
          <p:nvPr/>
        </p:nvSpPr>
        <p:spPr>
          <a:xfrm>
            <a:off x="4251960" y="3703320"/>
            <a:ext cx="3657600" cy="2377440"/>
          </a:xfrm>
          <a:prstGeom prst="rect">
            <a:avLst/>
          </a:prstGeom>
          <a:solidFill>
            <a:srgbClr val="F2F5F8"/>
          </a:solidFill>
          <a:ln w="9525">
            <a:solidFill>
              <a:srgbClr val="D5DDE5"/>
            </a:solidFill>
            <a:prstDash val="solid"/>
          </a:ln>
        </p:spPr>
      </p:sp>
      <p:sp>
        <p:nvSpPr>
          <p:cNvPr id="21" name="Text 18"/>
          <p:cNvSpPr txBox="1"/>
          <p:nvPr/>
        </p:nvSpPr>
        <p:spPr>
          <a:xfrm>
            <a:off x="4434840" y="3840480"/>
            <a:ext cx="548640" cy="548640"/>
          </a:xfrm>
          <a:prstGeom prst="rect">
            <a:avLst/>
          </a:prstGeom>
          <a:noFill/>
          <a:ln/>
        </p:spPr>
        <p:txBody>
          <a:bodyPr wrap="square" lIns="0" tIns="0" rIns="0" bIns="0" rtlCol="0" anchor="t"/>
          <a:lstStyle/>
          <a:p>
            <a:pPr indent="0" marL="0">
              <a:buNone/>
            </a:pPr>
            <a:r>
              <a:rPr lang="en-US" sz="2800" b="1" dirty="0">
                <a:solidFill>
                  <a:srgbClr val="0E7C86"/>
                </a:solidFill>
                <a:latin typeface="Cambria" pitchFamily="34" charset="0"/>
                <a:ea typeface="Cambria" pitchFamily="34" charset="-122"/>
                <a:cs typeface="Cambria" pitchFamily="34" charset="-120"/>
              </a:rPr>
              <a:t>5</a:t>
            </a:r>
            <a:endParaRPr lang="en-US" sz="2800" dirty="0"/>
          </a:p>
        </p:txBody>
      </p:sp>
      <p:sp>
        <p:nvSpPr>
          <p:cNvPr id="22" name="Text 19"/>
          <p:cNvSpPr txBox="1"/>
          <p:nvPr/>
        </p:nvSpPr>
        <p:spPr>
          <a:xfrm>
            <a:off x="4434840" y="4434840"/>
            <a:ext cx="32918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Production backend</a:t>
            </a:r>
            <a:endParaRPr lang="en-US" sz="1600" dirty="0"/>
          </a:p>
        </p:txBody>
      </p:sp>
      <p:sp>
        <p:nvSpPr>
          <p:cNvPr id="23" name="Text 20"/>
          <p:cNvSpPr txBox="1"/>
          <p:nvPr/>
        </p:nvSpPr>
        <p:spPr>
          <a:xfrm>
            <a:off x="4434840" y="4846320"/>
            <a:ext cx="3291840" cy="118872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Move from SQLite to a server database with a job queue; add login, roles and monitoring.</a:t>
            </a:r>
            <a:endParaRPr lang="en-US" sz="1450" dirty="0"/>
          </a:p>
        </p:txBody>
      </p:sp>
      <p:sp>
        <p:nvSpPr>
          <p:cNvPr id="24" name="Shape 21"/>
          <p:cNvSpPr/>
          <p:nvPr/>
        </p:nvSpPr>
        <p:spPr>
          <a:xfrm>
            <a:off x="8046720" y="3703320"/>
            <a:ext cx="3657600" cy="2377440"/>
          </a:xfrm>
          <a:prstGeom prst="rect">
            <a:avLst/>
          </a:prstGeom>
          <a:solidFill>
            <a:srgbClr val="F2F5F8"/>
          </a:solidFill>
          <a:ln w="9525">
            <a:solidFill>
              <a:srgbClr val="D5DDE5"/>
            </a:solidFill>
            <a:prstDash val="solid"/>
          </a:ln>
        </p:spPr>
      </p:sp>
      <p:sp>
        <p:nvSpPr>
          <p:cNvPr id="25" name="Text 22"/>
          <p:cNvSpPr txBox="1"/>
          <p:nvPr/>
        </p:nvSpPr>
        <p:spPr>
          <a:xfrm>
            <a:off x="8229600" y="3840480"/>
            <a:ext cx="548640" cy="548640"/>
          </a:xfrm>
          <a:prstGeom prst="rect">
            <a:avLst/>
          </a:prstGeom>
          <a:noFill/>
          <a:ln/>
        </p:spPr>
        <p:txBody>
          <a:bodyPr wrap="square" lIns="0" tIns="0" rIns="0" bIns="0" rtlCol="0" anchor="t"/>
          <a:lstStyle/>
          <a:p>
            <a:pPr indent="0" marL="0">
              <a:buNone/>
            </a:pPr>
            <a:r>
              <a:rPr lang="en-US" sz="2800" b="1" dirty="0">
                <a:solidFill>
                  <a:srgbClr val="0E7C86"/>
                </a:solidFill>
                <a:latin typeface="Cambria" pitchFamily="34" charset="0"/>
                <a:ea typeface="Cambria" pitchFamily="34" charset="-122"/>
                <a:cs typeface="Cambria" pitchFamily="34" charset="-120"/>
              </a:rPr>
              <a:t>6</a:t>
            </a:r>
            <a:endParaRPr lang="en-US" sz="2800" dirty="0"/>
          </a:p>
        </p:txBody>
      </p:sp>
      <p:sp>
        <p:nvSpPr>
          <p:cNvPr id="26" name="Text 23"/>
          <p:cNvSpPr txBox="1"/>
          <p:nvPr/>
        </p:nvSpPr>
        <p:spPr>
          <a:xfrm>
            <a:off x="8229600" y="4434840"/>
            <a:ext cx="329184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Evaluation at scale</a:t>
            </a:r>
            <a:endParaRPr lang="en-US" sz="1600" dirty="0"/>
          </a:p>
        </p:txBody>
      </p:sp>
      <p:sp>
        <p:nvSpPr>
          <p:cNvPr id="27" name="Text 24"/>
          <p:cNvSpPr txBox="1"/>
          <p:nvPr/>
        </p:nvSpPr>
        <p:spPr>
          <a:xfrm>
            <a:off x="8229600" y="4846320"/>
            <a:ext cx="3291840" cy="1188720"/>
          </a:xfrm>
          <a:prstGeom prst="rect">
            <a:avLst/>
          </a:prstGeom>
          <a:noFill/>
          <a:ln/>
        </p:spPr>
        <p:txBody>
          <a:bodyPr wrap="square" lIns="0" tIns="0" rIns="0" bIns="0" rtlCol="0" anchor="t"/>
          <a:lstStyle/>
          <a:p>
            <a:pPr indent="0" marL="0">
              <a:buNone/>
            </a:pPr>
            <a:r>
              <a:rPr lang="en-US" sz="1450" dirty="0">
                <a:solidFill>
                  <a:srgbClr val="1B2430"/>
                </a:solidFill>
                <a:latin typeface="Calibri" pitchFamily="34" charset="0"/>
                <a:ea typeface="Calibri" pitchFamily="34" charset="-122"/>
                <a:cs typeface="Calibri" pitchFamily="34" charset="-120"/>
              </a:rPr>
              <a:t>Test on anonymised real returns and measure agreement with human decisions.</a:t>
            </a:r>
            <a:endParaRPr lang="en-US" sz="145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109728"/>
            <a:ext cx="11247120" cy="65836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Conclusion</a:t>
            </a:r>
            <a:endParaRPr lang="en-US" sz="2600" dirty="0"/>
          </a:p>
        </p:txBody>
      </p:sp>
      <p:sp>
        <p:nvSpPr>
          <p:cNvPr id="4" name="Shape 1"/>
          <p:cNvSpPr/>
          <p:nvPr/>
        </p:nvSpPr>
        <p:spPr>
          <a:xfrm>
            <a:off x="731520" y="1325880"/>
            <a:ext cx="640080" cy="640080"/>
          </a:xfrm>
          <a:prstGeom prst="ellipse">
            <a:avLst/>
          </a:prstGeom>
          <a:solidFill>
            <a:srgbClr val="0E7C86"/>
          </a:solidFill>
          <a:ln w="12700">
            <a:solidFill>
              <a:srgbClr val="0E7C86"/>
            </a:solidFill>
            <a:prstDash val="solid"/>
          </a:ln>
        </p:spPr>
      </p:sp>
      <p:pic>
        <p:nvPicPr>
          <p:cNvPr id="5" name="Image 0" descr="check icon">    </p:cNvPr>
          <p:cNvPicPr>
            <a:picLocks noChangeAspect="1"/>
          </p:cNvPicPr>
          <p:nvPr/>
        </p:nvPicPr>
        <p:blipFill>
          <a:blip r:embed="rId1"/>
          <a:stretch>
            <a:fillRect/>
          </a:stretch>
        </p:blipFill>
        <p:spPr>
          <a:xfrm>
            <a:off x="872338" y="1466698"/>
            <a:ext cx="358445" cy="358445"/>
          </a:xfrm>
          <a:prstGeom prst="rect">
            <a:avLst/>
          </a:prstGeom>
        </p:spPr>
      </p:pic>
      <p:sp>
        <p:nvSpPr>
          <p:cNvPr id="6" name="Text 2"/>
          <p:cNvSpPr txBox="1"/>
          <p:nvPr/>
        </p:nvSpPr>
        <p:spPr>
          <a:xfrm>
            <a:off x="1645920" y="1280160"/>
            <a:ext cx="274320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Problem and domain</a:t>
            </a:r>
            <a:endParaRPr lang="en-US" sz="1800" dirty="0"/>
          </a:p>
        </p:txBody>
      </p:sp>
      <p:sp>
        <p:nvSpPr>
          <p:cNvPr id="7" name="Text 3"/>
          <p:cNvSpPr txBox="1"/>
          <p:nvPr/>
        </p:nvSpPr>
        <p:spPr>
          <a:xfrm>
            <a:off x="4480560" y="1280160"/>
            <a:ext cx="7223760" cy="731520"/>
          </a:xfrm>
          <a:prstGeom prst="rect">
            <a:avLst/>
          </a:prstGeom>
          <a:noFill/>
          <a:ln/>
        </p:spPr>
        <p:txBody>
          <a:bodyPr wrap="square" lIns="0" tIns="0" rIns="0" bIns="0" rtlCol="0" anchor="ctr"/>
          <a:lstStyle/>
          <a:p>
            <a:pPr indent="0" marL="0">
              <a:buNone/>
            </a:pPr>
            <a:r>
              <a:rPr lang="en-US" sz="1600" dirty="0">
                <a:solidFill>
                  <a:srgbClr val="DCE6EF"/>
                </a:solidFill>
                <a:latin typeface="Calibri" pitchFamily="34" charset="0"/>
                <a:ea typeface="Calibri" pitchFamily="34" charset="-122"/>
                <a:cs typeface="Calibri" pitchFamily="34" charset="-120"/>
              </a:rPr>
              <a:t>Return decisions are rule-driven, costly if wrong and need an audit trail.</a:t>
            </a:r>
            <a:endParaRPr lang="en-US" sz="1600" dirty="0"/>
          </a:p>
        </p:txBody>
      </p:sp>
      <p:sp>
        <p:nvSpPr>
          <p:cNvPr id="8" name="Shape 4"/>
          <p:cNvSpPr/>
          <p:nvPr/>
        </p:nvSpPr>
        <p:spPr>
          <a:xfrm>
            <a:off x="731520" y="2377440"/>
            <a:ext cx="640080" cy="640080"/>
          </a:xfrm>
          <a:prstGeom prst="ellipse">
            <a:avLst/>
          </a:prstGeom>
          <a:solidFill>
            <a:srgbClr val="0E7C86"/>
          </a:solidFill>
          <a:ln w="12700">
            <a:solidFill>
              <a:srgbClr val="0E7C86"/>
            </a:solidFill>
            <a:prstDash val="solid"/>
          </a:ln>
        </p:spPr>
      </p:sp>
      <p:pic>
        <p:nvPicPr>
          <p:cNvPr id="9" name="Image 1" descr="cog icon">    </p:cNvPr>
          <p:cNvPicPr>
            <a:picLocks noChangeAspect="1"/>
          </p:cNvPicPr>
          <p:nvPr/>
        </p:nvPicPr>
        <p:blipFill>
          <a:blip r:embed="rId2"/>
          <a:stretch>
            <a:fillRect/>
          </a:stretch>
        </p:blipFill>
        <p:spPr>
          <a:xfrm>
            <a:off x="872338" y="2518258"/>
            <a:ext cx="358445" cy="358445"/>
          </a:xfrm>
          <a:prstGeom prst="rect">
            <a:avLst/>
          </a:prstGeom>
        </p:spPr>
      </p:pic>
      <p:sp>
        <p:nvSpPr>
          <p:cNvPr id="10" name="Text 5"/>
          <p:cNvSpPr txBox="1"/>
          <p:nvPr/>
        </p:nvSpPr>
        <p:spPr>
          <a:xfrm>
            <a:off x="1645920" y="2331720"/>
            <a:ext cx="274320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Solution</a:t>
            </a:r>
            <a:endParaRPr lang="en-US" sz="1800" dirty="0"/>
          </a:p>
        </p:txBody>
      </p:sp>
      <p:sp>
        <p:nvSpPr>
          <p:cNvPr id="11" name="Text 6"/>
          <p:cNvSpPr txBox="1"/>
          <p:nvPr/>
        </p:nvSpPr>
        <p:spPr>
          <a:xfrm>
            <a:off x="4480560" y="2331720"/>
            <a:ext cx="7223760" cy="731520"/>
          </a:xfrm>
          <a:prstGeom prst="rect">
            <a:avLst/>
          </a:prstGeom>
          <a:noFill/>
          <a:ln/>
        </p:spPr>
        <p:txBody>
          <a:bodyPr wrap="square" lIns="0" tIns="0" rIns="0" bIns="0" rtlCol="0" anchor="ctr"/>
          <a:lstStyle/>
          <a:p>
            <a:pPr indent="0" marL="0">
              <a:buNone/>
            </a:pPr>
            <a:r>
              <a:rPr lang="en-US" sz="1600" dirty="0">
                <a:solidFill>
                  <a:srgbClr val="DCE6EF"/>
                </a:solidFill>
                <a:latin typeface="Calibri" pitchFamily="34" charset="0"/>
                <a:ea typeface="Calibri" pitchFamily="34" charset="-122"/>
                <a:cs typeface="Calibri" pitchFamily="34" charset="-120"/>
              </a:rPr>
              <a:t>Five agents with explicit hand-offs, orchestrated by one controller, with a Critic and a bounded correction loop.</a:t>
            </a:r>
            <a:endParaRPr lang="en-US" sz="1600" dirty="0"/>
          </a:p>
        </p:txBody>
      </p:sp>
      <p:sp>
        <p:nvSpPr>
          <p:cNvPr id="12" name="Shape 7"/>
          <p:cNvSpPr/>
          <p:nvPr/>
        </p:nvSpPr>
        <p:spPr>
          <a:xfrm>
            <a:off x="731520" y="3429000"/>
            <a:ext cx="640080" cy="640080"/>
          </a:xfrm>
          <a:prstGeom prst="ellipse">
            <a:avLst/>
          </a:prstGeom>
          <a:solidFill>
            <a:srgbClr val="0E7C86"/>
          </a:solidFill>
          <a:ln w="12700">
            <a:solidFill>
              <a:srgbClr val="0E7C86"/>
            </a:solidFill>
            <a:prstDash val="solid"/>
          </a:ln>
        </p:spPr>
      </p:sp>
      <p:pic>
        <p:nvPicPr>
          <p:cNvPr id="13" name="Image 2" descr="flask icon">    </p:cNvPr>
          <p:cNvPicPr>
            <a:picLocks noChangeAspect="1"/>
          </p:cNvPicPr>
          <p:nvPr/>
        </p:nvPicPr>
        <p:blipFill>
          <a:blip r:embed="rId3"/>
          <a:stretch>
            <a:fillRect/>
          </a:stretch>
        </p:blipFill>
        <p:spPr>
          <a:xfrm>
            <a:off x="872338" y="3569818"/>
            <a:ext cx="358445" cy="358445"/>
          </a:xfrm>
          <a:prstGeom prst="rect">
            <a:avLst/>
          </a:prstGeom>
        </p:spPr>
      </p:pic>
      <p:sp>
        <p:nvSpPr>
          <p:cNvPr id="14" name="Text 8"/>
          <p:cNvSpPr txBox="1"/>
          <p:nvPr/>
        </p:nvSpPr>
        <p:spPr>
          <a:xfrm>
            <a:off x="1645920" y="3383280"/>
            <a:ext cx="274320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Evidence</a:t>
            </a:r>
            <a:endParaRPr lang="en-US" sz="1800" dirty="0"/>
          </a:p>
        </p:txBody>
      </p:sp>
      <p:sp>
        <p:nvSpPr>
          <p:cNvPr id="15" name="Text 9"/>
          <p:cNvSpPr txBox="1"/>
          <p:nvPr/>
        </p:nvSpPr>
        <p:spPr>
          <a:xfrm>
            <a:off x="4480560" y="3383280"/>
            <a:ext cx="7223760" cy="731520"/>
          </a:xfrm>
          <a:prstGeom prst="rect">
            <a:avLst/>
          </a:prstGeom>
          <a:noFill/>
          <a:ln/>
        </p:spPr>
        <p:txBody>
          <a:bodyPr wrap="square" lIns="0" tIns="0" rIns="0" bIns="0" rtlCol="0" anchor="ctr"/>
          <a:lstStyle/>
          <a:p>
            <a:pPr indent="0" marL="0">
              <a:buNone/>
            </a:pPr>
            <a:r>
              <a:rPr lang="en-US" sz="1600" dirty="0">
                <a:solidFill>
                  <a:srgbClr val="DCE6EF"/>
                </a:solidFill>
                <a:latin typeface="Calibri" pitchFamily="34" charset="0"/>
                <a:ea typeface="Calibri" pitchFamily="34" charset="-122"/>
                <a:cs typeface="Calibri" pitchFamily="34" charset="-120"/>
              </a:rPr>
              <a:t>12 of 12 scenarios pass; 206 backend tests pass; a 100-run matrix confirms outputs flow from agent to agent.</a:t>
            </a:r>
            <a:endParaRPr lang="en-US" sz="1600" dirty="0"/>
          </a:p>
        </p:txBody>
      </p:sp>
      <p:sp>
        <p:nvSpPr>
          <p:cNvPr id="16" name="Shape 10"/>
          <p:cNvSpPr/>
          <p:nvPr/>
        </p:nvSpPr>
        <p:spPr>
          <a:xfrm>
            <a:off x="731520" y="4480560"/>
            <a:ext cx="640080" cy="640080"/>
          </a:xfrm>
          <a:prstGeom prst="ellipse">
            <a:avLst/>
          </a:prstGeom>
          <a:solidFill>
            <a:srgbClr val="0E7C86"/>
          </a:solidFill>
          <a:ln w="12700">
            <a:solidFill>
              <a:srgbClr val="0E7C86"/>
            </a:solidFill>
            <a:prstDash val="solid"/>
          </a:ln>
        </p:spPr>
      </p:sp>
      <p:pic>
        <p:nvPicPr>
          <p:cNvPr id="17" name="Image 3" descr="alert icon">    </p:cNvPr>
          <p:cNvPicPr>
            <a:picLocks noChangeAspect="1"/>
          </p:cNvPicPr>
          <p:nvPr/>
        </p:nvPicPr>
        <p:blipFill>
          <a:blip r:embed="rId4"/>
          <a:stretch>
            <a:fillRect/>
          </a:stretch>
        </p:blipFill>
        <p:spPr>
          <a:xfrm>
            <a:off x="872338" y="4621378"/>
            <a:ext cx="358445" cy="358445"/>
          </a:xfrm>
          <a:prstGeom prst="rect">
            <a:avLst/>
          </a:prstGeom>
        </p:spPr>
      </p:pic>
      <p:sp>
        <p:nvSpPr>
          <p:cNvPr id="18" name="Text 11"/>
          <p:cNvSpPr txBox="1"/>
          <p:nvPr/>
        </p:nvSpPr>
        <p:spPr>
          <a:xfrm>
            <a:off x="1645920" y="4434840"/>
            <a:ext cx="274320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Honest limits</a:t>
            </a:r>
            <a:endParaRPr lang="en-US" sz="1800" dirty="0"/>
          </a:p>
        </p:txBody>
      </p:sp>
      <p:sp>
        <p:nvSpPr>
          <p:cNvPr id="19" name="Text 12"/>
          <p:cNvSpPr txBox="1"/>
          <p:nvPr/>
        </p:nvSpPr>
        <p:spPr>
          <a:xfrm>
            <a:off x="4480560" y="4434840"/>
            <a:ext cx="7223760" cy="731520"/>
          </a:xfrm>
          <a:prstGeom prst="rect">
            <a:avLst/>
          </a:prstGeom>
          <a:noFill/>
          <a:ln/>
        </p:spPr>
        <p:txBody>
          <a:bodyPr wrap="square" lIns="0" tIns="0" rIns="0" bIns="0" rtlCol="0" anchor="ctr"/>
          <a:lstStyle/>
          <a:p>
            <a:pPr indent="0" marL="0">
              <a:buNone/>
            </a:pPr>
            <a:r>
              <a:rPr lang="en-US" sz="1600" dirty="0">
                <a:solidFill>
                  <a:srgbClr val="DCE6EF"/>
                </a:solidFill>
                <a:latin typeface="Calibri" pitchFamily="34" charset="0"/>
                <a:ea typeface="Calibri" pitchFamily="34" charset="-122"/>
                <a:cs typeface="Calibri" pitchFamily="34" charset="-120"/>
              </a:rPr>
              <a:t>Synthetic data, rule-based agents and a documented Critic trust boundary.</a:t>
            </a:r>
            <a:endParaRPr lang="en-US" sz="1600" dirty="0"/>
          </a:p>
        </p:txBody>
      </p:sp>
      <p:sp>
        <p:nvSpPr>
          <p:cNvPr id="20" name="Shape 13"/>
          <p:cNvSpPr/>
          <p:nvPr/>
        </p:nvSpPr>
        <p:spPr>
          <a:xfrm>
            <a:off x="731520" y="5623560"/>
            <a:ext cx="10698480" cy="0"/>
          </a:xfrm>
          <a:prstGeom prst="line">
            <a:avLst/>
          </a:prstGeom>
          <a:noFill/>
          <a:ln w="19050">
            <a:solidFill>
              <a:srgbClr val="0E7C86"/>
            </a:solidFill>
            <a:prstDash val="solid"/>
          </a:ln>
        </p:spPr>
      </p:sp>
      <p:sp>
        <p:nvSpPr>
          <p:cNvPr id="21" name="Text 14"/>
          <p:cNvSpPr txBox="1"/>
          <p:nvPr/>
        </p:nvSpPr>
        <p:spPr>
          <a:xfrm>
            <a:off x="731520" y="5760720"/>
            <a:ext cx="5486400" cy="45720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Thank you. Questions?</a:t>
            </a:r>
            <a:endParaRPr lang="en-US" sz="2400" dirty="0"/>
          </a:p>
        </p:txBody>
      </p:sp>
      <p:sp>
        <p:nvSpPr>
          <p:cNvPr id="22" name="Text 15"/>
          <p:cNvSpPr txBox="1"/>
          <p:nvPr/>
        </p:nvSpPr>
        <p:spPr>
          <a:xfrm>
            <a:off x="4206240" y="5852160"/>
            <a:ext cx="7498080" cy="365760"/>
          </a:xfrm>
          <a:prstGeom prst="rect">
            <a:avLst/>
          </a:prstGeom>
          <a:noFill/>
          <a:ln/>
        </p:spPr>
        <p:txBody>
          <a:bodyPr wrap="square" lIns="0" tIns="0" rIns="0" bIns="0" rtlCol="0" anchor="t"/>
          <a:lstStyle/>
          <a:p>
            <a:pPr algn="r" indent="0" marL="0">
              <a:buNone/>
            </a:pPr>
            <a:r>
              <a:rPr lang="en-US" sz="1250" dirty="0">
                <a:solidFill>
                  <a:srgbClr val="9FB3C8"/>
                </a:solidFill>
                <a:latin typeface="Calibri" pitchFamily="34" charset="0"/>
                <a:ea typeface="Calibri" pitchFamily="34" charset="-122"/>
                <a:cs typeface="Calibri" pitchFamily="34" charset="-120"/>
              </a:rPr>
              <a:t>Nirvan Uttamchandani (24070126125)  |  Neel Lakhani (24070126120)  |  Guide: Dr. Harshal Raut</a:t>
            </a:r>
            <a:endParaRPr lang="en-US" sz="1250" dirty="0"/>
          </a:p>
        </p:txBody>
      </p:sp>
      <p:sp>
        <p:nvSpPr>
          <p:cNvPr id="25" name="Slide Number Placeholder 0"/>
          <p:cNvSpPr>
            <a:spLocks noGrp="1"/>
          </p:cNvSpPr>
          <p:nvPr>
            <p:ph type="sldNum" sz="quarter" idx="4294967295"/>
          </p:nvPr>
        </p:nvSpPr>
        <p:spPr>
          <a:xfrm>
            <a:off x="11247120" y="649224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ReturnWise">
  <a:themeElements>
    <a:clrScheme name="ReturnWise">
      <a:dk1>
        <a:srgbClr val="1B2430"/>
      </a:dk1>
      <a:lt1>
        <a:srgbClr val="FFFFFF"/>
      </a:lt1>
      <a:dk2>
        <a:srgbClr val="0B1F3A"/>
      </a:dk2>
      <a:lt2>
        <a:srgbClr val="F2F5F8"/>
      </a:lt2>
      <a:accent1>
        <a:srgbClr val="0E7C86"/>
      </a:accent1>
      <a:accent2>
        <a:srgbClr val="0B1F3A"/>
      </a:accent2>
      <a:accent3>
        <a:srgbClr val="5B6B7C"/>
      </a:accent3>
      <a:accent4>
        <a:srgbClr val="C98A1B"/>
      </a:accent4>
      <a:accent5>
        <a:srgbClr val="2E7D4F"/>
      </a:accent5>
      <a:accent6>
        <a:srgbClr val="B23A3A"/>
      </a:accent6>
      <a:hlink>
        <a:srgbClr val="0E7C86"/>
      </a:hlink>
      <a:folHlink>
        <a:srgbClr val="5B6B7C"/>
      </a:folHlink>
    </a:clrScheme>
    <a:fontScheme name="ReturnWi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ReturnWise - Multi-Agent Return and Refund Resolution</dc:title>
  <dc:subject>PptxGenJS Presentation</dc:subject>
  <dc:creator>Nirvan Uttamchandani, Neel Lakhani</dc:creator>
  <cp:lastModifiedBy>Nirvan Uttamchandani, Neel Lakhani</cp:lastModifiedBy>
  <cp:revision>1</cp:revision>
  <dcterms:created xsi:type="dcterms:W3CDTF">2026-10-16T06:44:33Z</dcterms:created>
  <dcterms:modified xsi:type="dcterms:W3CDTF">2026-10-16T06:44:33Z</dcterms:modified>
</cp:coreProperties>
</file>